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4b4697ec5403c" /><Relationship Type="http://schemas.openxmlformats.org/officeDocument/2006/relationships/extended-properties" Target="/docProps/app.xml" Id="R6f5fa6af153f44c1" /><Relationship Type="http://schemas.openxmlformats.org/officeDocument/2006/relationships/officeDocument" Target="/ppt/presentation.xml" Id="R296abe7b0bee4d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102ae55884851"/>
  </p:sldMasterIdLst>
  <p:notesMasterIdLst>
    <p:notesMasterId xmlns:r="http://schemas.openxmlformats.org/officeDocument/2006/relationships" r:id="Rf81642a14b644513"/>
  </p:notesMasterIdLst>
  <p:sldIdLst>
    <p:sldId xmlns:r="http://schemas.openxmlformats.org/officeDocument/2006/relationships" id="256" r:id="R16a10f110b7d4b09"/>
    <p:sldId xmlns:r="http://schemas.openxmlformats.org/officeDocument/2006/relationships" id="257" r:id="R3cdf204dabed4247"/>
    <p:sldId xmlns:r="http://schemas.openxmlformats.org/officeDocument/2006/relationships" id="258" r:id="R990454ed192948c0"/>
    <p:sldId xmlns:r="http://schemas.openxmlformats.org/officeDocument/2006/relationships" id="259" r:id="R809320553a1a4f3f"/>
    <p:sldId xmlns:r="http://schemas.openxmlformats.org/officeDocument/2006/relationships" id="260" r:id="Rc56cf8a6780b42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8ca96bfd54a58" /><Relationship Type="http://schemas.openxmlformats.org/officeDocument/2006/relationships/slideMaster" Target="/ppt/slideMasters/slideMaster1.xml" Id="R588102ae55884851" /><Relationship Type="http://schemas.openxmlformats.org/officeDocument/2006/relationships/notesMaster" Target="/ppt/notesMasters/notesMaster1.xml" Id="Rf81642a14b644513" /><Relationship Type="http://schemas.openxmlformats.org/officeDocument/2006/relationships/presProps" Target="/ppt/presProps.xml" Id="Rbb84584d3eca4b38" /><Relationship Type="http://schemas.openxmlformats.org/officeDocument/2006/relationships/tableStyles" Target="/ppt/tableStyles.xml" Id="Rdd8590088e614d58" /><Relationship Type="http://schemas.openxmlformats.org/officeDocument/2006/relationships/slide" Target="/ppt/slides/slide1.xml" Id="R16a10f110b7d4b09" /><Relationship Type="http://schemas.openxmlformats.org/officeDocument/2006/relationships/slide" Target="/ppt/slides/slide2.xml" Id="R3cdf204dabed4247" /><Relationship Type="http://schemas.openxmlformats.org/officeDocument/2006/relationships/slide" Target="/ppt/slides/slide3.xml" Id="R990454ed192948c0" /><Relationship Type="http://schemas.openxmlformats.org/officeDocument/2006/relationships/slide" Target="/ppt/slides/slide4.xml" Id="R809320553a1a4f3f" /><Relationship Type="http://schemas.openxmlformats.org/officeDocument/2006/relationships/slide" Target="/ppt/slides/slide5.xml" Id="Rc56cf8a6780b42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1d8ce90a3e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e3412704740cc" /><Relationship Type="http://schemas.openxmlformats.org/officeDocument/2006/relationships/notesMaster" Target="/ppt/notesMasters/notesMaster1.xml" Id="R3267ac6722a3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a0bb33f30a4afd" /><Relationship Type="http://schemas.openxmlformats.org/officeDocument/2006/relationships/notesMaster" Target="/ppt/notesMasters/notesMaster1.xml" Id="R5acf72afb4e9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ba0de27ec4d47" /><Relationship Type="http://schemas.openxmlformats.org/officeDocument/2006/relationships/notesMaster" Target="/ppt/notesMasters/notesMaster1.xml" Id="Rb9bedd9b623c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7bf3464e0d402c" /><Relationship Type="http://schemas.openxmlformats.org/officeDocument/2006/relationships/notesMaster" Target="/ppt/notesMasters/notesMaster1.xml" Id="Ref894e93be95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ff77088dd4009" /><Relationship Type="http://schemas.openxmlformats.org/officeDocument/2006/relationships/notesMaster" Target="/ppt/notesMasters/notesMaster1.xml" Id="Rad08ee602b6d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0cae01b69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3c04c762e04973" /><Relationship Type="http://schemas.openxmlformats.org/officeDocument/2006/relationships/slideLayout" Target="/ppt/slideLayouts/slideLayout1.xml" Id="Re19ccd30237f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ccd30237f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f8eed970b4d72" /><Relationship Type="http://schemas.openxmlformats.org/officeDocument/2006/relationships/notesSlide" Target="/ppt/notesSlides/notesSlide1.xml" Id="Ra3f5da4fa82b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75e192cc24d92" /><Relationship Type="http://schemas.openxmlformats.org/officeDocument/2006/relationships/notesSlide" Target="/ppt/notesSlides/notesSlide2.xml" Id="R67e9be84518b4f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efccd1c804f44" /><Relationship Type="http://schemas.openxmlformats.org/officeDocument/2006/relationships/notesSlide" Target="/ppt/notesSlides/notesSlide3.xml" Id="R2c207e813fda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84aa14ee1463f" /><Relationship Type="http://schemas.openxmlformats.org/officeDocument/2006/relationships/notesSlide" Target="/ppt/notesSlides/notesSlide4.xml" Id="R6241259fecc448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b4112729b4d89" /><Relationship Type="http://schemas.openxmlformats.org/officeDocument/2006/relationships/notesSlide" Target="/ppt/notesSlides/notesSlide5.xml" Id="R7116719c28c04c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BC9BDA2-C47A-4685-8CD3-C11D1262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RECOMMENDER SYSTEM / BACKEND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A3D9715-497E-4115-A95B-8EB03D1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ホーム推薦の目的</a:t>
            </a:r>
          </a:p>
        </p:txBody>
      </p:sp>
      <p:sp>
        <p:nvSpPr>
          <p:cNvPr id="3" name="subheadline">
            <a:extLst xmlns:a="http://schemas.openxmlformats.org/drawingml/2006/main">
              <a:ext uri="{FF2B5EF4-FFF2-40B4-BE49-F238E27FC236}">
                <a16:creationId xmlns:a16="http://schemas.microsoft.com/office/drawing/2014/main" id="{53B52EDA-B3D5-4539-9E95-FF47F229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検索語を入力しなくても、ユーザごとの過去行動から</a:t>
            </a:r>
          </a:p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次に興味を持ちそうなゲームを提示する。</a:t>
            </a:r>
          </a:p>
        </p:txBody>
      </p:sp>
      <p:cxnSp>
        <p:nvCxnSpPr>
          <p:cNvPr id="24" name="accent"/>
          <p:cNvCxnSpPr/>
          <p:nvPr/>
        </p:nvCxnSpPr>
        <p:spPr>
          <a:xfrm xmlns:a="http://schemas.openxmlformats.org/drawingml/2006/main">
            <a:off x="514350" y="3905250"/>
            <a:ext cx="24384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D8DFF"/>
            </a:solidFill>
            <a:prstDash val="solid"/>
          </a:ln>
        </p:spPr>
      </p:cxn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4520DEB9-CF70-45C4-ACD6-8498522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入力：user_id と行動履歴　｜　出力：上位 N 件と推薦理由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1D3734BE-F60A-44EB-A031-5B4687A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2">
            <a:extLst xmlns:a="http://schemas.openxmlformats.org/drawingml/2006/main">
              <a:ext uri="{FF2B5EF4-FFF2-40B4-BE49-F238E27FC236}">
                <a16:creationId xmlns:a16="http://schemas.microsoft.com/office/drawing/2014/main" id="{208E0F81-0EE3-40D7-83EC-9E39956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86075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node-user">
            <a:extLst xmlns:a="http://schemas.openxmlformats.org/drawingml/2006/main">
              <a:ext uri="{FF2B5EF4-FFF2-40B4-BE49-F238E27FC236}">
                <a16:creationId xmlns:a16="http://schemas.microsoft.com/office/drawing/2014/main" id="{B9769511-D18A-44A0-A945-066EF58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node-graph">
            <a:extLst xmlns:a="http://schemas.openxmlformats.org/drawingml/2006/main">
              <a:ext uri="{FF2B5EF4-FFF2-40B4-BE49-F238E27FC236}">
                <a16:creationId xmlns:a16="http://schemas.microsoft.com/office/drawing/2014/main" id="{F2CFA0D0-0DEA-4D67-AA04-422FDE53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node-card">
            <a:extLst xmlns:a="http://schemas.openxmlformats.org/drawingml/2006/main">
              <a:ext uri="{FF2B5EF4-FFF2-40B4-BE49-F238E27FC236}">
                <a16:creationId xmlns:a16="http://schemas.microsoft.com/office/drawing/2014/main" id="{28319736-6C3F-4111-8694-D5998F97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62200"/>
            <a:ext cx="1181100" cy="138112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11" name="user-symbol">
            <a:extLst xmlns:a="http://schemas.openxmlformats.org/drawingml/2006/main">
              <a:ext uri="{FF2B5EF4-FFF2-40B4-BE49-F238E27FC236}">
                <a16:creationId xmlns:a16="http://schemas.microsoft.com/office/drawing/2014/main" id="{BB21EE24-DBF2-435B-9FBD-760FF58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</a:t>
            </a:r>
          </a:p>
        </p:txBody>
      </p:sp>
      <p:sp>
        <p:nvSpPr>
          <p:cNvPr id="12" name="user-title">
            <a:extLst xmlns:a="http://schemas.openxmlformats.org/drawingml/2006/main">
              <a:ext uri="{FF2B5EF4-FFF2-40B4-BE49-F238E27FC236}">
                <a16:creationId xmlns:a16="http://schemas.microsoft.com/office/drawing/2014/main" id="{50E4B739-D075-440D-96E7-69AF9DF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3" name="user-body">
            <a:extLst xmlns:a="http://schemas.openxmlformats.org/drawingml/2006/main">
              <a:ext uri="{FF2B5EF4-FFF2-40B4-BE49-F238E27FC236}">
                <a16:creationId xmlns:a16="http://schemas.microsoft.com/office/drawing/2014/main" id="{4C9BA1E0-693C-4CB8-8570-837CC651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0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RATED / VIEWED</a:t>
            </a:r>
          </a:p>
        </p:txBody>
      </p:sp>
      <p:sp>
        <p:nvSpPr>
          <p:cNvPr id="14" name="graph-symbol">
            <a:extLst xmlns:a="http://schemas.openxmlformats.org/drawingml/2006/main">
              <a:ext uri="{FF2B5EF4-FFF2-40B4-BE49-F238E27FC236}">
                <a16:creationId xmlns:a16="http://schemas.microsoft.com/office/drawing/2014/main" id="{5CBF6B15-1182-4909-984A-A4359D0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098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HOME</a:t>
            </a:r>
          </a:p>
        </p:txBody>
      </p:sp>
      <p:sp>
        <p:nvSpPr>
          <p:cNvPr id="15" name="graph-title">
            <a:extLst xmlns:a="http://schemas.openxmlformats.org/drawingml/2006/main">
              <a:ext uri="{FF2B5EF4-FFF2-40B4-BE49-F238E27FC236}">
                <a16:creationId xmlns:a16="http://schemas.microsoft.com/office/drawing/2014/main" id="{F8F7C265-B2B3-43E1-A328-FB55D31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ホーム画面</a:t>
            </a:r>
          </a:p>
        </p:txBody>
      </p:sp>
      <p:sp>
        <p:nvSpPr>
          <p:cNvPr id="16" name="graph-body">
            <a:extLst xmlns:a="http://schemas.openxmlformats.org/drawingml/2006/main">
              <a:ext uri="{FF2B5EF4-FFF2-40B4-BE49-F238E27FC236}">
                <a16:creationId xmlns:a16="http://schemas.microsoft.com/office/drawing/2014/main" id="{729579AA-FF04-4652-8DD4-2175F585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0042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自動で推薦を表示</a:t>
            </a:r>
          </a:p>
        </p:txBody>
      </p:sp>
      <p:sp>
        <p:nvSpPr>
          <p:cNvPr id="17" name="card-symbol">
            <a:extLst xmlns:a="http://schemas.openxmlformats.org/drawingml/2006/main">
              <a:ext uri="{FF2B5EF4-FFF2-40B4-BE49-F238E27FC236}">
                <a16:creationId xmlns:a16="http://schemas.microsoft.com/office/drawing/2014/main" id="{0C3E288C-E591-4A81-BB0D-785B3743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rPr>
              <a:t>GAME</a:t>
            </a:r>
          </a:p>
        </p:txBody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7CE273AE-B184-468F-B448-66746D1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おすすめゲーム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6F61D2A9-F285-43C7-BA60-4467195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04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理由も返却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5B6BEBF4-CBCD-4D27-980F-96E31A7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実装範囲：app/api/recommender.py の recommend_home() と Neo4j meta-path retrieval</a:t>
            </a:r>
          </a:p>
        </p:txBody>
      </p:sp>
    </p:spTree>
    <p:extLst>
      <p:ext uri="{BB962C8B-B14F-4D97-AF65-F5344CB8AC3E}">
        <p14:creationId xmlns:p14="http://schemas.microsoft.com/office/powerpoint/2010/main" val="1401927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21C807BD-1FD1-4D27-88DE-C66FAE06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/ PIPELINE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BAB3856-1134-419A-A045-C2B6AC6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ホーム推薦は、履歴取得から理由付き結果の返却までを一貫して行う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2F3C9376-8BA9-407F-A73C-FDBC25A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会話の現在条件は使わず、過去の評価・閲覧行動を個人化の材料にする。</a:t>
            </a:r>
          </a:p>
        </p:txBody>
      </p:sp>
      <p:cxnSp>
        <p:nvCxnSpPr>
          <p:cNvPr id="36" name="rule-2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1AA0391-AAC1-4B1B-B70A-E81143D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02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4ECDF3F-CE58-43EA-B30D-2FF3A7D0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CAB1447-B5A8-46FD-8705-4D41677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DF8C44E8-A107-4402-9001-DEDDA23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9" name="flow-0">
            <a:extLst xmlns:a="http://schemas.openxmlformats.org/drawingml/2006/main">
              <a:ext uri="{FF2B5EF4-FFF2-40B4-BE49-F238E27FC236}">
                <a16:creationId xmlns:a16="http://schemas.microsoft.com/office/drawing/2014/main" id="{BD5CE3AD-AFE4-4AD4-B0F5-0570AB89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flow-h-0">
            <a:extLst xmlns:a="http://schemas.openxmlformats.org/drawingml/2006/main">
              <a:ext uri="{FF2B5EF4-FFF2-40B4-BE49-F238E27FC236}">
                <a16:creationId xmlns:a16="http://schemas.microsoft.com/office/drawing/2014/main" id="{2819DED2-A258-4AD9-AF15-6A5A0DF7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① 履歴取得</a:t>
            </a:r>
          </a:p>
        </p:txBody>
      </p:sp>
      <p:cxnSp>
        <p:nvCxnSpPr>
          <p:cNvPr id="43" name="flow-rule-0"/>
          <p:cNvCxnSpPr/>
          <p:nvPr/>
        </p:nvCxnSpPr>
        <p:spPr>
          <a:xfrm xmlns:a="http://schemas.openxmlformats.org/drawingml/2006/main">
            <a:off x="552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2" name="flow-b-0">
            <a:extLst xmlns:a="http://schemas.openxmlformats.org/drawingml/2006/main">
              <a:ext uri="{FF2B5EF4-FFF2-40B4-BE49-F238E27FC236}">
                <a16:creationId xmlns:a16="http://schemas.microsoft.com/office/drawing/2014/main" id="{B66279B5-868F-48E7-881E-2525C90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RATED / VIEWED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既見商品も把握</a:t>
            </a:r>
          </a:p>
        </p:txBody>
      </p: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03FA7839-84AC-43F2-8A1C-F5DFDBFE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flow-h-1">
            <a:extLst xmlns:a="http://schemas.openxmlformats.org/drawingml/2006/main">
              <a:ext uri="{FF2B5EF4-FFF2-40B4-BE49-F238E27FC236}">
                <a16:creationId xmlns:a16="http://schemas.microsoft.com/office/drawing/2014/main" id="{8427B178-57EE-4807-8390-3736481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② グラフ探索</a:t>
            </a:r>
          </a:p>
        </p:txBody>
      </p:sp>
      <p:cxnSp>
        <p:nvCxnSpPr>
          <p:cNvPr id="47" name="flow-rule-1"/>
          <p:cNvCxnSpPr/>
          <p:nvPr/>
        </p:nvCxnSpPr>
        <p:spPr>
          <a:xfrm xmlns:a="http://schemas.openxmlformats.org/drawingml/2006/main">
            <a:off x="2838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6" name="flow-b-1">
            <a:extLst xmlns:a="http://schemas.openxmlformats.org/drawingml/2006/main">
              <a:ext uri="{FF2B5EF4-FFF2-40B4-BE49-F238E27FC236}">
                <a16:creationId xmlns:a16="http://schemas.microsoft.com/office/drawing/2014/main" id="{EE09C7F6-CB94-4F9D-9E68-7115C659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属性共有・類似ユーザ・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時系列遷移を探索</a:t>
            </a:r>
          </a:p>
        </p:txBody>
      </p:sp>
      <p:sp>
        <p:nvSpPr>
          <p:cNvPr id="17" name="flow-2">
            <a:extLst xmlns:a="http://schemas.openxmlformats.org/drawingml/2006/main">
              <a:ext uri="{FF2B5EF4-FFF2-40B4-BE49-F238E27FC236}">
                <a16:creationId xmlns:a16="http://schemas.microsoft.com/office/drawing/2014/main" id="{763D9B6D-D037-48B1-AC12-57D75AE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flow-h-2">
            <a:extLst xmlns:a="http://schemas.openxmlformats.org/drawingml/2006/main">
              <a:ext uri="{FF2B5EF4-FFF2-40B4-BE49-F238E27FC236}">
                <a16:creationId xmlns:a16="http://schemas.microsoft.com/office/drawing/2014/main" id="{77ACBE08-4DA7-45C3-9152-C79E1DAC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③ スコアリング</a:t>
            </a:r>
          </a:p>
        </p:txBody>
      </p:sp>
      <p:cxnSp>
        <p:nvCxnSpPr>
          <p:cNvPr id="51" name="flow-rule-2"/>
          <p:cNvCxnSpPr/>
          <p:nvPr/>
        </p:nvCxnSpPr>
        <p:spPr>
          <a:xfrm xmlns:a="http://schemas.openxmlformats.org/drawingml/2006/main">
            <a:off x="5124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0" name="flow-b-2">
            <a:extLst xmlns:a="http://schemas.openxmlformats.org/drawingml/2006/main">
              <a:ext uri="{FF2B5EF4-FFF2-40B4-BE49-F238E27FC236}">
                <a16:creationId xmlns:a16="http://schemas.microsoft.com/office/drawing/2014/main" id="{7477FB84-215B-4EC3-B103-5B82EB93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強い行動根拠を優先し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品質情報を加算</a:t>
            </a:r>
          </a:p>
        </p:txBody>
      </p:sp>
      <p:sp>
        <p:nvSpPr>
          <p:cNvPr id="21" name="flow-3">
            <a:extLst xmlns:a="http://schemas.openxmlformats.org/drawingml/2006/main">
              <a:ext uri="{FF2B5EF4-FFF2-40B4-BE49-F238E27FC236}">
                <a16:creationId xmlns:a16="http://schemas.microsoft.com/office/drawing/2014/main" id="{4C304F31-7A6B-4615-8385-EB40662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762125" cy="1809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2" name="flow-h-3">
            <a:extLst xmlns:a="http://schemas.openxmlformats.org/drawingml/2006/main">
              <a:ext uri="{FF2B5EF4-FFF2-40B4-BE49-F238E27FC236}">
                <a16:creationId xmlns:a16="http://schemas.microsoft.com/office/drawing/2014/main" id="{09CED6D7-6E1A-49D1-8647-7ED964F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14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④ 結果を返却</a:t>
            </a:r>
          </a:p>
        </p:txBody>
      </p:sp>
      <p:cxnSp>
        <p:nvCxnSpPr>
          <p:cNvPr id="55" name="flow-rule-3"/>
          <p:cNvCxnSpPr/>
          <p:nvPr/>
        </p:nvCxnSpPr>
        <p:spPr>
          <a:xfrm xmlns:a="http://schemas.openxmlformats.org/drawingml/2006/main">
            <a:off x="7410450" y="3095625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4" name="flow-b-3">
            <a:extLst xmlns:a="http://schemas.openxmlformats.org/drawingml/2006/main">
              <a:ext uri="{FF2B5EF4-FFF2-40B4-BE49-F238E27FC236}">
                <a16:creationId xmlns:a16="http://schemas.microsoft.com/office/drawing/2014/main" id="{5298E4FE-E100-4F35-9436-2B935BA1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上位 N 件、理由、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根拠指標を API へ</a:t>
            </a:r>
          </a:p>
        </p:txBody>
      </p:sp>
      <p:sp>
        <p:nvSpPr>
          <p:cNvPr id="25" name="branch-arrow">
            <a:extLst xmlns:a="http://schemas.openxmlformats.org/drawingml/2006/main">
              <a:ext uri="{FF2B5EF4-FFF2-40B4-BE49-F238E27FC236}">
                <a16:creationId xmlns:a16="http://schemas.microsoft.com/office/drawing/2014/main" id="{3C08905D-E4C0-4D64-9CAD-83581EA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4953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26" name="personalized">
            <a:extLst xmlns:a="http://schemas.openxmlformats.org/drawingml/2006/main">
              <a:ext uri="{FF2B5EF4-FFF2-40B4-BE49-F238E27FC236}">
                <a16:creationId xmlns:a16="http://schemas.microsoft.com/office/drawing/2014/main" id="{EBBA85CC-5FCE-4C4E-B89C-20CC052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1476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7" name="personalized-t">
            <a:extLst xmlns:a="http://schemas.openxmlformats.org/drawingml/2006/main">
              <a:ext uri="{FF2B5EF4-FFF2-40B4-BE49-F238E27FC236}">
                <a16:creationId xmlns:a16="http://schemas.microsoft.com/office/drawing/2014/main" id="{FD8C95AA-FF2B-4AF9-8E5A-3F4C59D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rPr>
              <a:t>履歴あり</a:t>
            </a:r>
          </a:p>
        </p:txBody>
      </p:sp>
      <p:sp>
        <p:nvSpPr>
          <p:cNvPr id="28" name="personalized-b">
            <a:extLst xmlns:a="http://schemas.openxmlformats.org/drawingml/2006/main">
              <a:ext uri="{FF2B5EF4-FFF2-40B4-BE49-F238E27FC236}">
                <a16:creationId xmlns:a16="http://schemas.microsoft.com/office/drawing/2014/main" id="{0EB5F82A-DB9C-4DBA-A4B9-1A13D557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個人化推薦</a:t>
            </a:r>
          </a:p>
        </p:txBody>
      </p:sp>
      <p:sp>
        <p:nvSpPr>
          <p:cNvPr id="29" name="popular">
            <a:extLst xmlns:a="http://schemas.openxmlformats.org/drawingml/2006/main">
              <a:ext uri="{FF2B5EF4-FFF2-40B4-BE49-F238E27FC236}">
                <a16:creationId xmlns:a16="http://schemas.microsoft.com/office/drawing/2014/main" id="{F389B6F9-2F68-4344-B1A7-0499D61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48200"/>
            <a:ext cx="2000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5C28B"/>
            </a:solidFill>
            <a:prstDash val="solid"/>
          </a:ln>
        </p:spPr>
      </p:sp>
      <p:sp>
        <p:nvSpPr>
          <p:cNvPr id="30" name="popular-t">
            <a:extLst xmlns:a="http://schemas.openxmlformats.org/drawingml/2006/main">
              <a:ext uri="{FF2B5EF4-FFF2-40B4-BE49-F238E27FC236}">
                <a16:creationId xmlns:a16="http://schemas.microsoft.com/office/drawing/2014/main" id="{5715C489-2C11-49F6-B70B-C67D653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387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履歴なし</a:t>
            </a:r>
          </a:p>
        </p:txBody>
      </p:sp>
      <p:sp>
        <p:nvSpPr>
          <p:cNvPr id="31" name="popular-b">
            <a:extLst xmlns:a="http://schemas.openxmlformats.org/drawingml/2006/main">
              <a:ext uri="{FF2B5EF4-FFF2-40B4-BE49-F238E27FC236}">
                <a16:creationId xmlns:a16="http://schemas.microsoft.com/office/drawing/2014/main" id="{B1DC2A70-F793-4326-BC68-708F87FF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149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人気・高評価商品へ</a:t>
            </a:r>
          </a:p>
        </p:txBody>
      </p:sp>
      <p:sp>
        <p:nvSpPr>
          <p:cNvPr id="32" name="branch-note">
            <a:extLst xmlns:a="http://schemas.openxmlformats.org/drawingml/2006/main">
              <a:ext uri="{FF2B5EF4-FFF2-40B4-BE49-F238E27FC236}">
                <a16:creationId xmlns:a16="http://schemas.microsoft.com/office/drawing/2014/main" id="{1A4B8594-642C-487A-9DAF-4A5A61E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候補生成後、履歴の有無によって推薦の根拠が分かれる。</a:t>
            </a:r>
          </a:p>
        </p:txBody>
      </p:sp>
    </p:spTree>
    <p:extLst>
      <p:ext uri="{BB962C8B-B14F-4D97-AF65-F5344CB8AC3E}">
        <p14:creationId xmlns:p14="http://schemas.microsoft.com/office/powerpoint/2010/main" val="1751993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33617B1D-547D-4DDF-863C-0E06E3C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/ PREFERENCE SIGNALS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9AAE8A2-6855-489F-B6DB-1782F8D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「好み」は、評価・閲覧・類似ユーザ・行動順序から得る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223B3722-A57F-4850-8859-FF2F387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中央の User を起点に、4種類の関係をたどって Candidate Product を見つける。</a:t>
            </a:r>
          </a:p>
        </p:txBody>
      </p:sp>
      <p:cxnSp>
        <p:nvCxnSpPr>
          <p:cNvPr id="34" name="rule-3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67761FD-4F0E-426A-8FC2-8D753FB3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03</a:t>
            </a:r>
          </a:p>
        </p:txBody>
      </p:sp>
      <p:cxnSp>
        <p:nvCxnSpPr>
          <p:cNvPr id="36" name="e1"/>
          <p:cNvCxnSpPr/>
          <p:nvPr/>
        </p:nvCxnSpPr>
        <p:spPr>
          <a:xfrm xmlns:a="http://schemas.openxmlformats.org/drawingml/2006/main">
            <a:off x="2762250" y="2990850"/>
            <a:ext cx="280987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e2"/>
          <p:cNvCxnSpPr/>
          <p:nvPr/>
        </p:nvCxnSpPr>
        <p:spPr>
          <a:xfrm xmlns:a="http://schemas.openxmlformats.org/drawingml/2006/main">
            <a:off x="2762250" y="4724400"/>
            <a:ext cx="2809875" cy="-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8" name="e3"/>
          <p:cNvCxnSpPr/>
          <p:nvPr/>
        </p:nvCxnSpPr>
        <p:spPr>
          <a:xfrm xmlns:a="http://schemas.openxmlformats.org/drawingml/2006/main">
            <a:off x="6619875" y="3676650"/>
            <a:ext cx="3514725" cy="-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e4"/>
          <p:cNvCxnSpPr/>
          <p:nvPr/>
        </p:nvCxnSpPr>
        <p:spPr>
          <a:xfrm xmlns:a="http://schemas.openxmlformats.org/drawingml/2006/main">
            <a:off x="6619875" y="3676650"/>
            <a:ext cx="35147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user-center">
            <a:extLst xmlns:a="http://schemas.openxmlformats.org/drawingml/2006/main">
              <a:ext uri="{FF2B5EF4-FFF2-40B4-BE49-F238E27FC236}">
                <a16:creationId xmlns:a16="http://schemas.microsoft.com/office/drawing/2014/main" id="{A209C215-1B66-4BC0-992A-8E2BFD3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1047750" cy="11620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user-big">
            <a:extLst xmlns:a="http://schemas.openxmlformats.org/drawingml/2006/main">
              <a:ext uri="{FF2B5EF4-FFF2-40B4-BE49-F238E27FC236}">
                <a16:creationId xmlns:a16="http://schemas.microsoft.com/office/drawing/2014/main" id="{5B87F3A3-6CB5-41D7-89EC-6018EFA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2" name="user-small">
            <a:extLst xmlns:a="http://schemas.openxmlformats.org/drawingml/2006/main">
              <a:ext uri="{FF2B5EF4-FFF2-40B4-BE49-F238E27FC236}">
                <a16:creationId xmlns:a16="http://schemas.microsoft.com/office/drawing/2014/main" id="{BEC36DF5-8FE1-4DC5-BF89-182C499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433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行動履歴</a:t>
            </a:r>
          </a:p>
        </p:txBody>
      </p:sp>
      <p:sp>
        <p:nvSpPr>
          <p:cNvPr id="13" name="node-0">
            <a:extLst xmlns:a="http://schemas.openxmlformats.org/drawingml/2006/main">
              <a:ext uri="{FF2B5EF4-FFF2-40B4-BE49-F238E27FC236}">
                <a16:creationId xmlns:a16="http://schemas.microsoft.com/office/drawing/2014/main" id="{8C13362C-6BB8-4A9C-B2ED-F47276D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69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node-h-0">
            <a:extLst xmlns:a="http://schemas.openxmlformats.org/drawingml/2006/main">
              <a:ext uri="{FF2B5EF4-FFF2-40B4-BE49-F238E27FC236}">
                <a16:creationId xmlns:a16="http://schemas.microsoft.com/office/drawing/2014/main" id="{B1282019-E341-41B0-802E-6674984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RATED ≥ 4</a:t>
            </a:r>
          </a:p>
        </p:txBody>
      </p:sp>
      <p:sp>
        <p:nvSpPr>
          <p:cNvPr id="15" name="node-b-0">
            <a:extLst xmlns:a="http://schemas.openxmlformats.org/drawingml/2006/main">
              <a:ext uri="{FF2B5EF4-FFF2-40B4-BE49-F238E27FC236}">
                <a16:creationId xmlns:a16="http://schemas.microsoft.com/office/drawing/2014/main" id="{0359B24E-1F65-4192-B125-F385A6D3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高評価した商品</a:t>
            </a:r>
          </a:p>
        </p:txBody>
      </p:sp>
      <p:sp>
        <p:nvSpPr>
          <p:cNvPr id="16" name="node-1">
            <a:extLst xmlns:a="http://schemas.openxmlformats.org/drawingml/2006/main">
              <a:ext uri="{FF2B5EF4-FFF2-40B4-BE49-F238E27FC236}">
                <a16:creationId xmlns:a16="http://schemas.microsoft.com/office/drawing/2014/main" id="{A49C3CAC-3EF4-4A68-91B1-CA045E03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169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node-h-1">
            <a:extLst xmlns:a="http://schemas.openxmlformats.org/drawingml/2006/main">
              <a:ext uri="{FF2B5EF4-FFF2-40B4-BE49-F238E27FC236}">
                <a16:creationId xmlns:a16="http://schemas.microsoft.com/office/drawing/2014/main" id="{52177885-7403-4ABC-80CA-61CC395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VIEWED</a:t>
            </a:r>
          </a:p>
        </p:txBody>
      </p:sp>
      <p:sp>
        <p:nvSpPr>
          <p:cNvPr id="18" name="node-b-1">
            <a:extLst xmlns:a="http://schemas.openxmlformats.org/drawingml/2006/main">
              <a:ext uri="{FF2B5EF4-FFF2-40B4-BE49-F238E27FC236}">
                <a16:creationId xmlns:a16="http://schemas.microsoft.com/office/drawing/2014/main" id="{1CFEA626-D153-45EE-9CB2-6D664F9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最近閲覧した商品</a:t>
            </a:r>
          </a:p>
        </p:txBody>
      </p:sp>
      <p:sp>
        <p:nvSpPr>
          <p:cNvPr id="19" name="node-2">
            <a:extLst xmlns:a="http://schemas.openxmlformats.org/drawingml/2006/main">
              <a:ext uri="{FF2B5EF4-FFF2-40B4-BE49-F238E27FC236}">
                <a16:creationId xmlns:a16="http://schemas.microsoft.com/office/drawing/2014/main" id="{FCDE98AA-AFCA-4AD1-A807-A036CFC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69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node-h-2">
            <a:extLst xmlns:a="http://schemas.openxmlformats.org/drawingml/2006/main">
              <a:ext uri="{FF2B5EF4-FFF2-40B4-BE49-F238E27FC236}">
                <a16:creationId xmlns:a16="http://schemas.microsoft.com/office/drawing/2014/main" id="{9A97968B-4DC8-4C7A-9C38-43D765E8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432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Peer User</a:t>
            </a:r>
          </a:p>
        </p:txBody>
      </p:sp>
      <p:sp>
        <p:nvSpPr>
          <p:cNvPr id="21" name="node-b-2">
            <a:extLst xmlns:a="http://schemas.openxmlformats.org/drawingml/2006/main">
              <a:ext uri="{FF2B5EF4-FFF2-40B4-BE49-F238E27FC236}">
                <a16:creationId xmlns:a16="http://schemas.microsoft.com/office/drawing/2014/main" id="{2050E1DF-C90B-4C0A-B83A-91EC0D5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480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好みが近い他ユーザ</a:t>
            </a:r>
          </a:p>
        </p:txBody>
      </p:sp>
      <p:sp>
        <p:nvSpPr>
          <p:cNvPr id="22" name="node-3">
            <a:extLst xmlns:a="http://schemas.openxmlformats.org/drawingml/2006/main">
              <a:ext uri="{FF2B5EF4-FFF2-40B4-BE49-F238E27FC236}">
                <a16:creationId xmlns:a16="http://schemas.microsoft.com/office/drawing/2014/main" id="{75D10896-51CD-419F-9704-F252DD59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05300"/>
            <a:ext cx="1695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3" name="node-h-3">
            <a:extLst xmlns:a="http://schemas.openxmlformats.org/drawingml/2006/main">
              <a:ext uri="{FF2B5EF4-FFF2-40B4-BE49-F238E27FC236}">
                <a16:creationId xmlns:a16="http://schemas.microsoft.com/office/drawing/2014/main" id="{4C62DADE-C5BE-4FFC-8CB2-3308E62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767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24" name="node-b-3">
            <a:extLst xmlns:a="http://schemas.openxmlformats.org/drawingml/2006/main">
              <a:ext uri="{FF2B5EF4-FFF2-40B4-BE49-F238E27FC236}">
                <a16:creationId xmlns:a16="http://schemas.microsoft.com/office/drawing/2014/main" id="{08BA6289-3043-430D-8F04-1639F504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7815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推薦候補の商品</a:t>
            </a:r>
          </a:p>
        </p:txBody>
      </p:sp>
      <p:sp>
        <p:nvSpPr>
          <p:cNvPr id="25" name="label-rated">
            <a:extLst xmlns:a="http://schemas.openxmlformats.org/drawingml/2006/main">
              <a:ext uri="{FF2B5EF4-FFF2-40B4-BE49-F238E27FC236}">
                <a16:creationId xmlns:a16="http://schemas.microsoft.com/office/drawing/2014/main" id="{0563DEB6-7EA8-43B3-8514-6CD8EF3E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共通属性を持つ候補</a:t>
            </a:r>
          </a:p>
        </p:txBody>
      </p:sp>
      <p:sp>
        <p:nvSpPr>
          <p:cNvPr id="26" name="label-viewed">
            <a:extLst xmlns:a="http://schemas.openxmlformats.org/drawingml/2006/main">
              <a:ext uri="{FF2B5EF4-FFF2-40B4-BE49-F238E27FC236}">
                <a16:creationId xmlns:a16="http://schemas.microsoft.com/office/drawing/2014/main" id="{7FBEA20F-5684-47BA-9D5F-079B17FB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短期関心に近い候補</a:t>
            </a:r>
          </a:p>
        </p:txBody>
      </p:sp>
      <p:sp>
        <p:nvSpPr>
          <p:cNvPr id="27" name="label-peer">
            <a:extLst xmlns:a="http://schemas.openxmlformats.org/drawingml/2006/main">
              <a:ext uri="{FF2B5EF4-FFF2-40B4-BE49-F238E27FC236}">
                <a16:creationId xmlns:a16="http://schemas.microsoft.com/office/drawing/2014/main" id="{28454978-2E85-472F-9535-DC4DF496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共評価・高評価の関係</a:t>
            </a:r>
          </a:p>
        </p:txBody>
      </p:sp>
      <p:sp>
        <p:nvSpPr>
          <p:cNvPr id="28" name="label-transition">
            <a:extLst xmlns:a="http://schemas.openxmlformats.org/drawingml/2006/main">
              <a:ext uri="{FF2B5EF4-FFF2-40B4-BE49-F238E27FC236}">
                <a16:creationId xmlns:a16="http://schemas.microsoft.com/office/drawing/2014/main" id="{606D8AEC-90AB-4FFE-B807-B2CCF08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次に選ばれた行動順序</a:t>
            </a:r>
          </a:p>
        </p:txBody>
      </p:sp>
      <p:sp>
        <p:nvSpPr>
          <p:cNvPr id="29" name="exclude">
            <a:extLst xmlns:a="http://schemas.openxmlformats.org/drawingml/2006/main">
              <a:ext uri="{FF2B5EF4-FFF2-40B4-BE49-F238E27FC236}">
                <a16:creationId xmlns:a16="http://schemas.microsoft.com/office/drawing/2014/main" id="{D3D63605-9266-40C4-B191-696D6B0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5C28B"/>
            </a:solidFill>
            <a:prstDash val="solid"/>
          </a:ln>
        </p:spPr>
      </p:sp>
      <p:sp>
        <p:nvSpPr>
          <p:cNvPr id="30" name="exclude-text">
            <a:extLst xmlns:a="http://schemas.openxmlformats.org/drawingml/2006/main">
              <a:ext uri="{FF2B5EF4-FFF2-40B4-BE49-F238E27FC236}">
                <a16:creationId xmlns:a16="http://schemas.microsoft.com/office/drawing/2014/main" id="{A9C67D28-787B-4B66-838C-7F6AE22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53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共通ルール：すでに RATED または VIEWED の商品は候補から除外する。</a:t>
            </a:r>
          </a:p>
        </p:txBody>
      </p:sp>
    </p:spTree>
    <p:extLst>
      <p:ext uri="{BB962C8B-B14F-4D97-AF65-F5344CB8AC3E}">
        <p14:creationId xmlns:p14="http://schemas.microsoft.com/office/powerpoint/2010/main" val="24791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86EEA39A-8F21-4EBD-A08B-D478A27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/ RANKING &amp; EXPLANATION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1223C9D-FF08-4A76-A623-38D5AE8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順位は、行動根拠を中心に、商品品質で安定化させる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2939AFBF-9DD2-4A08-BF7E-9E3BD38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スコアは固定の重み付き式で算出し、最も強い根拠を推薦理由として返す。</a:t>
            </a:r>
          </a:p>
        </p:txBody>
      </p:sp>
      <p:cxnSp>
        <p:nvCxnSpPr>
          <p:cNvPr id="35" name="rule-4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3C54871F-8F2B-424A-9CAE-873CF42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04</a:t>
            </a:r>
          </a:p>
        </p:txBody>
      </p:sp>
      <p:sp>
        <p:nvSpPr>
          <p:cNvPr id="6" name="left-label">
            <a:extLst xmlns:a="http://schemas.openxmlformats.org/drawingml/2006/main">
              <a:ext uri="{FF2B5EF4-FFF2-40B4-BE49-F238E27FC236}">
                <a16:creationId xmlns:a16="http://schemas.microsoft.com/office/drawing/2014/main" id="{738C34A9-93C4-4BD5-9D0D-B01C09D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相対的な寄与</a:t>
            </a:r>
          </a:p>
        </p:txBody>
      </p:sp>
      <p:sp>
        <p:nvSpPr>
          <p:cNvPr id="7" name="rank-label-0">
            <a:extLst xmlns:a="http://schemas.openxmlformats.org/drawingml/2006/main">
              <a:ext uri="{FF2B5EF4-FFF2-40B4-BE49-F238E27FC236}">
                <a16:creationId xmlns:a16="http://schemas.microsoft.com/office/drawing/2014/main" id="{4D928D58-34AE-473D-902B-F72C8AB2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次に選ばれる遷移</a:t>
            </a:r>
          </a:p>
        </p:txBody>
      </p:sp>
      <p:sp>
        <p:nvSpPr>
          <p:cNvPr id="8" name="rank-bar-0">
            <a:extLst xmlns:a="http://schemas.openxmlformats.org/drawingml/2006/main">
              <a:ext uri="{FF2B5EF4-FFF2-40B4-BE49-F238E27FC236}">
                <a16:creationId xmlns:a16="http://schemas.microsoft.com/office/drawing/2014/main" id="{24D9AAEA-4052-4F8C-865A-47EAE91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66950"/>
            <a:ext cx="4000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rank-detail-0">
            <a:extLst xmlns:a="http://schemas.openxmlformats.org/drawingml/2006/main">
              <a:ext uri="{FF2B5EF4-FFF2-40B4-BE49-F238E27FC236}">
                <a16:creationId xmlns:a16="http://schemas.microsoft.com/office/drawing/2014/main" id="{64F6C9AB-D387-48FA-ABF0-DB825327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最も強い行動シグナル</a:t>
            </a:r>
          </a:p>
        </p:txBody>
      </p:sp>
      <p:sp>
        <p:nvSpPr>
          <p:cNvPr id="10" name="rank-label-1">
            <a:extLst xmlns:a="http://schemas.openxmlformats.org/drawingml/2006/main">
              <a:ext uri="{FF2B5EF4-FFF2-40B4-BE49-F238E27FC236}">
                <a16:creationId xmlns:a16="http://schemas.microsoft.com/office/drawing/2014/main" id="{DA65330E-8CD8-4420-B7E3-B03FA94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類似ユーザの高評価</a:t>
            </a:r>
          </a:p>
        </p:txBody>
      </p:sp>
      <p:sp>
        <p:nvSpPr>
          <p:cNvPr id="11" name="rank-bar-1">
            <a:extLst xmlns:a="http://schemas.openxmlformats.org/drawingml/2006/main">
              <a:ext uri="{FF2B5EF4-FFF2-40B4-BE49-F238E27FC236}">
                <a16:creationId xmlns:a16="http://schemas.microsoft.com/office/drawing/2014/main" id="{185E4357-055E-451C-B972-0F8C4989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24150"/>
            <a:ext cx="2905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FF"/>
          </a:solidFill>
          <a:ln xmlns:a="http://schemas.openxmlformats.org/drawingml/2006/main" w="9525">
            <a:solidFill>
              <a:srgbClr val="5FA8FF"/>
            </a:solidFill>
            <a:prstDash val="solid"/>
          </a:ln>
        </p:spPr>
      </p:sp>
      <p:sp>
        <p:nvSpPr>
          <p:cNvPr id="12" name="rank-detail-1">
            <a:extLst xmlns:a="http://schemas.openxmlformats.org/drawingml/2006/main">
              <a:ext uri="{FF2B5EF4-FFF2-40B4-BE49-F238E27FC236}">
                <a16:creationId xmlns:a16="http://schemas.microsoft.com/office/drawing/2014/main" id="{E4E98998-123B-40A9-952B-5FF4DF1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908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協調フィルタリング</a:t>
            </a:r>
          </a:p>
        </p:txBody>
      </p:sp>
      <p:sp>
        <p:nvSpPr>
          <p:cNvPr id="13" name="rank-label-2">
            <a:extLst xmlns:a="http://schemas.openxmlformats.org/drawingml/2006/main">
              <a:ext uri="{FF2B5EF4-FFF2-40B4-BE49-F238E27FC236}">
                <a16:creationId xmlns:a16="http://schemas.microsoft.com/office/drawing/2014/main" id="{C6909AB5-B674-425B-A0AB-B441966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高評価商品との属性共有</a:t>
            </a:r>
          </a:p>
        </p:txBody>
      </p:sp>
      <p:sp>
        <p:nvSpPr>
          <p:cNvPr id="14" name="rank-bar-2">
            <a:extLst xmlns:a="http://schemas.openxmlformats.org/drawingml/2006/main">
              <a:ext uri="{FF2B5EF4-FFF2-40B4-BE49-F238E27FC236}">
                <a16:creationId xmlns:a16="http://schemas.microsoft.com/office/drawing/2014/main" id="{056CD4EB-7E55-438E-8193-DC0ED16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813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C2FF"/>
          </a:solidFill>
          <a:ln xmlns:a="http://schemas.openxmlformats.org/drawingml/2006/main" w="9525">
            <a:solidFill>
              <a:srgbClr val="8BC2FF"/>
            </a:solidFill>
            <a:prstDash val="solid"/>
          </a:ln>
        </p:spPr>
      </p:sp>
      <p:sp>
        <p:nvSpPr>
          <p:cNvPr id="15" name="rank-detail-2">
            <a:extLst xmlns:a="http://schemas.openxmlformats.org/drawingml/2006/main">
              <a:ext uri="{FF2B5EF4-FFF2-40B4-BE49-F238E27FC236}">
                <a16:creationId xmlns:a16="http://schemas.microsoft.com/office/drawing/2014/main" id="{F290DB72-BB59-48D2-8588-4F429A1E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480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長期的な好み</a:t>
            </a:r>
          </a:p>
        </p:txBody>
      </p:sp>
      <p:sp>
        <p:nvSpPr>
          <p:cNvPr id="16" name="rank-label-3">
            <a:extLst xmlns:a="http://schemas.openxmlformats.org/drawingml/2006/main">
              <a:ext uri="{FF2B5EF4-FFF2-40B4-BE49-F238E27FC236}">
                <a16:creationId xmlns:a16="http://schemas.microsoft.com/office/drawing/2014/main" id="{322CB141-1AF7-4594-AE40-DE00576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最近閲覧との属性共有</a:t>
            </a:r>
          </a:p>
        </p:txBody>
      </p:sp>
      <p:sp>
        <p:nvSpPr>
          <p:cNvPr id="17" name="rank-bar-3">
            <a:extLst xmlns:a="http://schemas.openxmlformats.org/drawingml/2006/main">
              <a:ext uri="{FF2B5EF4-FFF2-40B4-BE49-F238E27FC236}">
                <a16:creationId xmlns:a16="http://schemas.microsoft.com/office/drawing/2014/main" id="{60672D56-C8A4-4EC5-863B-367A2C6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0FF"/>
          </a:solidFill>
          <a:ln xmlns:a="http://schemas.openxmlformats.org/drawingml/2006/main" w="9525">
            <a:solidFill>
              <a:srgbClr val="B8E0FF"/>
            </a:solidFill>
            <a:prstDash val="solid"/>
          </a:ln>
        </p:spPr>
      </p:sp>
      <p:sp>
        <p:nvSpPr>
          <p:cNvPr id="18" name="rank-detail-3">
            <a:extLst xmlns:a="http://schemas.openxmlformats.org/drawingml/2006/main">
              <a:ext uri="{FF2B5EF4-FFF2-40B4-BE49-F238E27FC236}">
                <a16:creationId xmlns:a16="http://schemas.microsoft.com/office/drawing/2014/main" id="{B2DF6784-128F-41F1-B70F-FA34412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052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短期的な関心</a:t>
            </a:r>
          </a:p>
        </p:txBody>
      </p:sp>
      <p:sp>
        <p:nvSpPr>
          <p:cNvPr id="19" name="rank-label-4">
            <a:extLst xmlns:a="http://schemas.openxmlformats.org/drawingml/2006/main">
              <a:ext uri="{FF2B5EF4-FFF2-40B4-BE49-F238E27FC236}">
                <a16:creationId xmlns:a16="http://schemas.microsoft.com/office/drawing/2014/main" id="{65853BB8-4AD1-4C78-A78F-141F920F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レビューで裏付けられた属性</a:t>
            </a:r>
          </a:p>
        </p:txBody>
      </p:sp>
      <p:sp>
        <p:nvSpPr>
          <p:cNvPr id="20" name="rank-bar-4">
            <a:extLst xmlns:a="http://schemas.openxmlformats.org/drawingml/2006/main">
              <a:ext uri="{FF2B5EF4-FFF2-40B4-BE49-F238E27FC236}">
                <a16:creationId xmlns:a16="http://schemas.microsoft.com/office/drawing/2014/main" id="{3F16AFEE-235B-4CA1-9722-75EB84A1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9575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</p:sp>
      <p:sp>
        <p:nvSpPr>
          <p:cNvPr id="21" name="rank-detail-4">
            <a:extLst xmlns:a="http://schemas.openxmlformats.org/drawingml/2006/main">
              <a:ext uri="{FF2B5EF4-FFF2-40B4-BE49-F238E27FC236}">
                <a16:creationId xmlns:a16="http://schemas.microsoft.com/office/drawing/2014/main" id="{3CCDA4FE-BDEB-45FD-A9B3-8CB5927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624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信頼性の補強</a:t>
            </a:r>
          </a:p>
        </p:txBody>
      </p:sp>
      <p:sp>
        <p:nvSpPr>
          <p:cNvPr id="22" name="rank-label-5">
            <a:extLst xmlns:a="http://schemas.openxmlformats.org/drawingml/2006/main">
              <a:ext uri="{FF2B5EF4-FFF2-40B4-BE49-F238E27FC236}">
                <a16:creationId xmlns:a16="http://schemas.microsoft.com/office/drawing/2014/main" id="{6998CFFD-7734-4072-A2FA-C0392891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商品評価・評価数</a:t>
            </a:r>
          </a:p>
        </p:txBody>
      </p:sp>
      <p:sp>
        <p:nvSpPr>
          <p:cNvPr id="23" name="rank-bar-5">
            <a:extLst xmlns:a="http://schemas.openxmlformats.org/drawingml/2006/main">
              <a:ext uri="{FF2B5EF4-FFF2-40B4-BE49-F238E27FC236}">
                <a16:creationId xmlns:a16="http://schemas.microsoft.com/office/drawing/2014/main" id="{2D3A2D14-C3EF-434F-BDB7-3B4DF57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E8F4FF"/>
            </a:solidFill>
            <a:prstDash val="solid"/>
          </a:ln>
        </p:spPr>
      </p:sp>
      <p:sp>
        <p:nvSpPr>
          <p:cNvPr id="24" name="rank-detail-5">
            <a:extLst xmlns:a="http://schemas.openxmlformats.org/drawingml/2006/main">
              <a:ext uri="{FF2B5EF4-FFF2-40B4-BE49-F238E27FC236}">
                <a16:creationId xmlns:a16="http://schemas.microsoft.com/office/drawing/2014/main" id="{ABD5BD2C-EF46-43C8-BD9B-5563A772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19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品質の補正</a:t>
            </a:r>
          </a:p>
        </p:txBody>
      </p:sp>
      <p:sp>
        <p:nvSpPr>
          <p:cNvPr id="25" name="reason-card">
            <a:extLst xmlns:a="http://schemas.openxmlformats.org/drawingml/2006/main">
              <a:ext uri="{FF2B5EF4-FFF2-40B4-BE49-F238E27FC236}">
                <a16:creationId xmlns:a16="http://schemas.microsoft.com/office/drawing/2014/main" id="{07B482FA-1AEF-41CD-A484-BCB9814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85975"/>
            <a:ext cx="390525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reason-label">
            <a:extLst xmlns:a="http://schemas.openxmlformats.org/drawingml/2006/main">
              <a:ext uri="{FF2B5EF4-FFF2-40B4-BE49-F238E27FC236}">
                <a16:creationId xmlns:a16="http://schemas.microsoft.com/office/drawing/2014/main" id="{63A868EA-AF85-45A4-8202-94498F0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推薦カードが返す説明（例）</a:t>
            </a:r>
          </a:p>
        </p:txBody>
      </p:sp>
      <p:sp>
        <p:nvSpPr>
          <p:cNvPr id="27" name="reason-title">
            <a:extLst xmlns:a="http://schemas.openxmlformats.org/drawingml/2006/main">
              <a:ext uri="{FF2B5EF4-FFF2-40B4-BE49-F238E27FC236}">
                <a16:creationId xmlns:a16="http://schemas.microsoft.com/office/drawing/2014/main" id="{A9B25C9E-313D-4F34-ADD3-E898746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最近の好みに近い流れで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次に選ばれやすい候補です</a:t>
            </a:r>
          </a:p>
        </p:txBody>
      </p:sp>
      <p:cxnSp>
        <p:nvCxnSpPr>
          <p:cNvPr id="59" name="reason-rule"/>
          <p:cNvCxnSpPr/>
          <p:nvPr/>
        </p:nvCxnSpPr>
        <p:spPr>
          <a:xfrm xmlns:a="http://schemas.openxmlformats.org/drawingml/2006/main">
            <a:off x="7924800" y="3552825"/>
            <a:ext cx="33813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9" name="reason-metrics">
            <a:extLst xmlns:a="http://schemas.openxmlformats.org/drawingml/2006/main">
              <a:ext uri="{FF2B5EF4-FFF2-40B4-BE49-F238E27FC236}">
                <a16:creationId xmlns:a16="http://schemas.microsoft.com/office/drawing/2014/main" id="{672F0038-1C9C-4EC0-B808-6B2223B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・類似ユーザの行動を確認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・高評価商品と属性を共有</a:t>
            </a:r>
          </a:p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・レビューでも属性を裏付け</a:t>
            </a:r>
          </a:p>
        </p:txBody>
      </p:sp>
      <p:sp>
        <p:nvSpPr>
          <p:cNvPr id="30" name="reason-caption">
            <a:extLst xmlns:a="http://schemas.openxmlformats.org/drawingml/2006/main">
              <a:ext uri="{FF2B5EF4-FFF2-40B4-BE49-F238E27FC236}">
                <a16:creationId xmlns:a16="http://schemas.microsoft.com/office/drawing/2014/main" id="{5F2DD0B0-7BF3-4CE2-8FD3-751608D4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14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推薦理由と reason_metrics を返すため、</a:t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UI 側で根拠を説明できる。</a:t>
            </a:r>
          </a:p>
        </p:txBody>
      </p:sp>
      <p:sp>
        <p:nvSpPr>
          <p:cNvPr id="31" name="note">
            <a:extLst xmlns:a="http://schemas.openxmlformats.org/drawingml/2006/main">
              <a:ext uri="{FF2B5EF4-FFF2-40B4-BE49-F238E27FC236}">
                <a16:creationId xmlns:a16="http://schemas.microsoft.com/office/drawing/2014/main" id="{87E2C8CB-C7FA-46A2-AEA8-01F7DDE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注：棒の長さは説明用の相対表現。実装では log 変換を含む固定の重み付きスコアを使用する。</a:t>
            </a:r>
          </a:p>
        </p:txBody>
      </p:sp>
    </p:spTree>
    <p:extLst>
      <p:ext uri="{BB962C8B-B14F-4D97-AF65-F5344CB8AC3E}">
        <p14:creationId xmlns:p14="http://schemas.microsoft.com/office/powerpoint/2010/main" val="1477917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26B2FE2A-AB9E-4518-9D9C-74BD94E9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/ OPERATION &amp; FALLBACK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8781AE7-0A73-46EB-8C1E-1F15AC5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新規ユーザには人気推薦、履歴の蓄積後は個人化推薦へ移行する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97724CD6-B746-401D-B9C9-0D8CCA4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閲覧行動を記録し、次回のホーム推薦を改善する。必要に応じて事前キャッシュも行う。</a:t>
            </a:r>
          </a:p>
        </p:txBody>
      </p:sp>
      <p:cxnSp>
        <p:nvCxnSpPr>
          <p:cNvPr id="31" name="rule-5"/>
          <p:cNvCxnSpPr/>
          <p:nvPr/>
        </p:nvCxnSpPr>
        <p:spPr>
          <a:xfrm xmlns:a="http://schemas.openxmlformats.org/drawingml/2006/main">
            <a:off x="400050" y="1524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ED01F6F6-AC85-4042-B331-8A5B992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865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rPr>
              <a:t>HOME RECOMMENDATION BACKEND  |  05</a:t>
            </a:r>
          </a:p>
        </p:txBody>
      </p:sp>
      <p:sp>
        <p:nvSpPr>
          <p:cNvPr id="6" name="op-a1">
            <a:extLst xmlns:a="http://schemas.openxmlformats.org/drawingml/2006/main">
              <a:ext uri="{FF2B5EF4-FFF2-40B4-BE49-F238E27FC236}">
                <a16:creationId xmlns:a16="http://schemas.microsoft.com/office/drawing/2014/main" id="{69997F36-6E2B-405E-83BA-A1CD916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7" name="op-a2">
            <a:extLst xmlns:a="http://schemas.openxmlformats.org/drawingml/2006/main">
              <a:ext uri="{FF2B5EF4-FFF2-40B4-BE49-F238E27FC236}">
                <a16:creationId xmlns:a16="http://schemas.microsoft.com/office/drawing/2014/main" id="{37B09793-E26B-4645-A2F6-EA51984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8" name="op-a3">
            <a:extLst xmlns:a="http://schemas.openxmlformats.org/drawingml/2006/main">
              <a:ext uri="{FF2B5EF4-FFF2-40B4-BE49-F238E27FC236}">
                <a16:creationId xmlns:a16="http://schemas.microsoft.com/office/drawing/2014/main" id="{E99196EA-66F6-41E2-97FC-31FBB68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E6FA"/>
          </a:solidFill>
          <a:ln xmlns:a="http://schemas.openxmlformats.org/drawingml/2006/main" w="0">
            <a:solidFill>
              <a:srgbClr val="B8E6FA"/>
            </a:solidFill>
            <a:prstDash val="solid"/>
          </a:ln>
        </p:spPr>
      </p:sp>
      <p:sp>
        <p:nvSpPr>
          <p:cNvPr id="9" name="op-0">
            <a:extLst xmlns:a="http://schemas.openxmlformats.org/drawingml/2006/main">
              <a:ext uri="{FF2B5EF4-FFF2-40B4-BE49-F238E27FC236}">
                <a16:creationId xmlns:a16="http://schemas.microsoft.com/office/drawing/2014/main" id="{3FFA84E7-0B90-437A-ADD9-BED4999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op-num-0">
            <a:extLst xmlns:a="http://schemas.openxmlformats.org/drawingml/2006/main">
              <a:ext uri="{FF2B5EF4-FFF2-40B4-BE49-F238E27FC236}">
                <a16:creationId xmlns:a16="http://schemas.microsoft.com/office/drawing/2014/main" id="{4E62D26F-4DA6-4D70-89C9-B5A241A9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op-head-0">
            <a:extLst xmlns:a="http://schemas.openxmlformats.org/drawingml/2006/main">
              <a:ext uri="{FF2B5EF4-FFF2-40B4-BE49-F238E27FC236}">
                <a16:creationId xmlns:a16="http://schemas.microsoft.com/office/drawing/2014/main" id="{CE838071-1E97-4D9D-8B8D-57197E67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新規ユーザ</a:t>
            </a:r>
          </a:p>
        </p:txBody>
      </p:sp>
      <p:sp>
        <p:nvSpPr>
          <p:cNvPr id="12" name="op-body-0">
            <a:extLst xmlns:a="http://schemas.openxmlformats.org/drawingml/2006/main">
              <a:ext uri="{FF2B5EF4-FFF2-40B4-BE49-F238E27FC236}">
                <a16:creationId xmlns:a16="http://schemas.microsoft.com/office/drawing/2014/main" id="{EA7959DC-75CC-4542-BB7F-C1B93ACC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履歴が不足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人気・高評価商品を表示</a:t>
            </a:r>
          </a:p>
        </p:txBody>
      </p:sp>
      <p:sp>
        <p:nvSpPr>
          <p:cNvPr id="13" name="op-1">
            <a:extLst xmlns:a="http://schemas.openxmlformats.org/drawingml/2006/main">
              <a:ext uri="{FF2B5EF4-FFF2-40B4-BE49-F238E27FC236}">
                <a16:creationId xmlns:a16="http://schemas.microsoft.com/office/drawing/2014/main" id="{FF48B212-EDAF-463E-9D61-B70C9FD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op-num-1">
            <a:extLst xmlns:a="http://schemas.openxmlformats.org/drawingml/2006/main">
              <a:ext uri="{FF2B5EF4-FFF2-40B4-BE49-F238E27FC236}">
                <a16:creationId xmlns:a16="http://schemas.microsoft.com/office/drawing/2014/main" id="{9FCC2766-1063-408A-B886-E94A266D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op-head-1">
            <a:extLst xmlns:a="http://schemas.openxmlformats.org/drawingml/2006/main">
              <a:ext uri="{FF2B5EF4-FFF2-40B4-BE49-F238E27FC236}">
                <a16:creationId xmlns:a16="http://schemas.microsoft.com/office/drawing/2014/main" id="{E12E9AC3-2129-47FF-A18D-7A6FD6B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商品を閲覧</a:t>
            </a:r>
          </a:p>
        </p:txBody>
      </p:sp>
      <p:sp>
        <p:nvSpPr>
          <p:cNvPr id="16" name="op-body-1">
            <a:extLst xmlns:a="http://schemas.openxmlformats.org/drawingml/2006/main">
              <a:ext uri="{FF2B5EF4-FFF2-40B4-BE49-F238E27FC236}">
                <a16:creationId xmlns:a16="http://schemas.microsoft.com/office/drawing/2014/main" id="{FD41EFEF-63C0-4420-A251-5CA933D6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VIEWED を記録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SearchLog と紐付け</a:t>
            </a:r>
          </a:p>
        </p:txBody>
      </p:sp>
      <p:sp>
        <p:nvSpPr>
          <p:cNvPr id="17" name="op-2">
            <a:extLst xmlns:a="http://schemas.openxmlformats.org/drawingml/2006/main">
              <a:ext uri="{FF2B5EF4-FFF2-40B4-BE49-F238E27FC236}">
                <a16:creationId xmlns:a16="http://schemas.microsoft.com/office/drawing/2014/main" id="{D73EE1EA-96A1-48C1-A358-D85E9B88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op-num-2">
            <a:extLst xmlns:a="http://schemas.openxmlformats.org/drawingml/2006/main">
              <a:ext uri="{FF2B5EF4-FFF2-40B4-BE49-F238E27FC236}">
                <a16:creationId xmlns:a16="http://schemas.microsoft.com/office/drawing/2014/main" id="{C3C4552E-0852-4B9D-A4A2-0F47A354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op-head-2">
            <a:extLst xmlns:a="http://schemas.openxmlformats.org/drawingml/2006/main">
              <a:ext uri="{FF2B5EF4-FFF2-40B4-BE49-F238E27FC236}">
                <a16:creationId xmlns:a16="http://schemas.microsoft.com/office/drawing/2014/main" id="{1A01DFFC-D7DA-4AE7-AEA4-E7CF309C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履歴を蓄積</a:t>
            </a:r>
          </a:p>
        </p:txBody>
      </p:sp>
      <p:sp>
        <p:nvSpPr>
          <p:cNvPr id="20" name="op-body-2">
            <a:extLst xmlns:a="http://schemas.openxmlformats.org/drawingml/2006/main">
              <a:ext uri="{FF2B5EF4-FFF2-40B4-BE49-F238E27FC236}">
                <a16:creationId xmlns:a16="http://schemas.microsoft.com/office/drawing/2014/main" id="{39FF2F0D-4D05-4DFF-AD5A-7917E3FD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評価・閲覧・属性を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Neo4j から取得</a:t>
            </a:r>
          </a:p>
        </p:txBody>
      </p:sp>
      <p:sp>
        <p:nvSpPr>
          <p:cNvPr id="21" name="op-3">
            <a:extLst xmlns:a="http://schemas.openxmlformats.org/drawingml/2006/main">
              <a:ext uri="{FF2B5EF4-FFF2-40B4-BE49-F238E27FC236}">
                <a16:creationId xmlns:a16="http://schemas.microsoft.com/office/drawing/2014/main" id="{FF1D75F1-E500-4020-A87C-FB06C18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2479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936B"/>
            </a:solidFill>
            <a:prstDash val="solid"/>
          </a:ln>
        </p:spPr>
      </p:sp>
      <p:sp>
        <p:nvSpPr>
          <p:cNvPr id="22" name="op-num-3">
            <a:extLst xmlns:a="http://schemas.openxmlformats.org/drawingml/2006/main">
              <a:ext uri="{FF2B5EF4-FFF2-40B4-BE49-F238E27FC236}">
                <a16:creationId xmlns:a16="http://schemas.microsoft.com/office/drawing/2014/main" id="{9FCBBDCF-018E-429A-BF50-688F6B30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19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op-head-3">
            <a:extLst xmlns:a="http://schemas.openxmlformats.org/drawingml/2006/main">
              <a:ext uri="{FF2B5EF4-FFF2-40B4-BE49-F238E27FC236}">
                <a16:creationId xmlns:a16="http://schemas.microsoft.com/office/drawing/2014/main" id="{A504C51C-627C-4A08-ACBC-DC1140B0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個人化推薦</a:t>
            </a:r>
          </a:p>
        </p:txBody>
      </p:sp>
      <p:sp>
        <p:nvSpPr>
          <p:cNvPr id="24" name="op-body-3">
            <a:extLst xmlns:a="http://schemas.openxmlformats.org/drawingml/2006/main">
              <a:ext uri="{FF2B5EF4-FFF2-40B4-BE49-F238E27FC236}">
                <a16:creationId xmlns:a16="http://schemas.microsoft.com/office/drawing/2014/main" id="{CAAF790E-6F9B-495E-B8E5-207A770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7662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次回は個人化結果を</a:t>
            </a:r>
          </a:p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理由とともに表示</a:t>
            </a:r>
          </a:p>
        </p:txBody>
      </p:sp>
      <p:sp>
        <p:nvSpPr>
          <p:cNvPr id="25" name="close">
            <a:extLst xmlns:a="http://schemas.openxmlformats.org/drawingml/2006/main">
              <a:ext uri="{FF2B5EF4-FFF2-40B4-BE49-F238E27FC236}">
                <a16:creationId xmlns:a16="http://schemas.microsoft.com/office/drawing/2014/main" id="{E66EDF1E-2E18-4436-8195-A69489D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A7E5CE"/>
            </a:solidFill>
            <a:prstDash val="solid"/>
          </a:ln>
        </p:spPr>
      </p:sp>
      <p:sp>
        <p:nvSpPr>
          <p:cNvPr id="26" name="close-head">
            <a:extLst xmlns:a="http://schemas.openxmlformats.org/drawingml/2006/main">
              <a:ext uri="{FF2B5EF4-FFF2-40B4-BE49-F238E27FC236}">
                <a16:creationId xmlns:a16="http://schemas.microsoft.com/office/drawing/2014/main" id="{96A5CE51-0459-4F62-AEC4-A6185C8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936B"/>
                </a:solidFill>
                <a:latin typeface="Helvetica Neue"/>
                <a:ea typeface="Helvetica Neue"/>
                <a:cs typeface="Helvetica Neue"/>
              </a:rPr>
              <a:t>キャッシュ</a:t>
            </a:r>
          </a:p>
        </p:txBody>
      </p:sp>
      <p:sp>
        <p:nvSpPr>
          <p:cNvPr id="27" name="close-body">
            <a:extLst xmlns:a="http://schemas.openxmlformats.org/drawingml/2006/main">
              <a:ext uri="{FF2B5EF4-FFF2-40B4-BE49-F238E27FC236}">
                <a16:creationId xmlns:a16="http://schemas.microsoft.com/office/drawing/2014/main" id="{352AF891-B427-42D4-9137-2DC6589F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81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タブ離脱時などに次回のホーム推薦を事前生成できる。履歴が不足する場合は、無関係な個人化を避けて人気商品を返す。</a:t>
            </a:r>
          </a:p>
        </p:txBody>
      </p:sp>
    </p:spTree>
    <p:extLst>
      <p:ext uri="{BB962C8B-B14F-4D97-AF65-F5344CB8AC3E}">
        <p14:creationId xmlns:p14="http://schemas.microsoft.com/office/powerpoint/2010/main" val="185141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2026-07-14T11:31:23.3060000Z</dcterms:created>
  <dcterms:modified xsi:type="dcterms:W3CDTF">2026-07-14T11:31:23.3060000Z</dcterms:modified>
</coreProperties>
</file>