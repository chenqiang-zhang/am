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5a2ccb9f9428d" /><Relationship Type="http://schemas.openxmlformats.org/officeDocument/2006/relationships/extended-properties" Target="/docProps/app.xml" Id="R71c326c59d3346ef" /><Relationship Type="http://schemas.openxmlformats.org/officeDocument/2006/relationships/officeDocument" Target="/ppt/presentation.xml" Id="R33e3d3d13b96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fe4711a2941b8"/>
  </p:sldMasterIdLst>
  <p:notesMasterIdLst>
    <p:notesMasterId xmlns:r="http://schemas.openxmlformats.org/officeDocument/2006/relationships" r:id="R13e92197c3814cbe"/>
  </p:notesMasterIdLst>
  <p:sldIdLst>
    <p:sldId xmlns:r="http://schemas.openxmlformats.org/officeDocument/2006/relationships" id="256" r:id="Rf1624d1838314e7d"/>
    <p:sldId xmlns:r="http://schemas.openxmlformats.org/officeDocument/2006/relationships" id="257" r:id="R635d5ee0a24a49e8"/>
    <p:sldId xmlns:r="http://schemas.openxmlformats.org/officeDocument/2006/relationships" id="258" r:id="R7e3505dfd7b54171"/>
    <p:sldId xmlns:r="http://schemas.openxmlformats.org/officeDocument/2006/relationships" id="259" r:id="Rf31781113f3d4a91"/>
    <p:sldId xmlns:r="http://schemas.openxmlformats.org/officeDocument/2006/relationships" id="260" r:id="Rc6a4280d24bf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dfae789740446a" /><Relationship Type="http://schemas.openxmlformats.org/officeDocument/2006/relationships/slideMaster" Target="/ppt/slideMasters/slideMaster1.xml" Id="R99dfe4711a2941b8" /><Relationship Type="http://schemas.openxmlformats.org/officeDocument/2006/relationships/notesMaster" Target="/ppt/notesMasters/notesMaster1.xml" Id="R13e92197c3814cbe" /><Relationship Type="http://schemas.openxmlformats.org/officeDocument/2006/relationships/presProps" Target="/ppt/presProps.xml" Id="Rd0e104d1d41e48a1" /><Relationship Type="http://schemas.openxmlformats.org/officeDocument/2006/relationships/tableStyles" Target="/ppt/tableStyles.xml" Id="Ref4c142ad9494f47" /><Relationship Type="http://schemas.openxmlformats.org/officeDocument/2006/relationships/slide" Target="/ppt/slides/slide1.xml" Id="Rf1624d1838314e7d" /><Relationship Type="http://schemas.openxmlformats.org/officeDocument/2006/relationships/slide" Target="/ppt/slides/slide2.xml" Id="R635d5ee0a24a49e8" /><Relationship Type="http://schemas.openxmlformats.org/officeDocument/2006/relationships/slide" Target="/ppt/slides/slide3.xml" Id="R7e3505dfd7b54171" /><Relationship Type="http://schemas.openxmlformats.org/officeDocument/2006/relationships/slide" Target="/ppt/slides/slide4.xml" Id="Rf31781113f3d4a91" /><Relationship Type="http://schemas.openxmlformats.org/officeDocument/2006/relationships/slide" Target="/ppt/slides/slide5.xml" Id="Rc6a4280d24bf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7d54d434d548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737fc55d54b8b" /><Relationship Type="http://schemas.openxmlformats.org/officeDocument/2006/relationships/notesMaster" Target="/ppt/notesMasters/notesMaster1.xml" Id="R66703547d6c841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c2dccd8a84e2f" /><Relationship Type="http://schemas.openxmlformats.org/officeDocument/2006/relationships/notesMaster" Target="/ppt/notesMasters/notesMaster1.xml" Id="Rc4b94a2d7ab6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b181c22a9e4416" /><Relationship Type="http://schemas.openxmlformats.org/officeDocument/2006/relationships/notesMaster" Target="/ppt/notesMasters/notesMaster1.xml" Id="R1829bab212c5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534f5e5f04b75" /><Relationship Type="http://schemas.openxmlformats.org/officeDocument/2006/relationships/notesMaster" Target="/ppt/notesMasters/notesMaster1.xml" Id="R939f03f973c849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d5f403d33441b0" /><Relationship Type="http://schemas.openxmlformats.org/officeDocument/2006/relationships/notesMaster" Target="/ppt/notesMasters/notesMaster1.xml" Id="R124581fdab3e4b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f36c731ea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ba9accd724a15" /><Relationship Type="http://schemas.openxmlformats.org/officeDocument/2006/relationships/slideLayout" Target="/ppt/slideLayouts/slideLayout1.xml" Id="Rdefbc4b8b73a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bc4b8b73a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659b9e7ea47fa" /><Relationship Type="http://schemas.openxmlformats.org/officeDocument/2006/relationships/notesSlide" Target="/ppt/notesSlides/notesSlide1.xml" Id="R7ce599f47377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218ef7d5f4f18" /><Relationship Type="http://schemas.openxmlformats.org/officeDocument/2006/relationships/notesSlide" Target="/ppt/notesSlides/notesSlide2.xml" Id="Rfc3f727c25ff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3c3da00044e0e" /><Relationship Type="http://schemas.openxmlformats.org/officeDocument/2006/relationships/notesSlide" Target="/ppt/notesSlides/notesSlide3.xml" Id="Ra340a4b6bd814e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e88c6b1e6446a" /><Relationship Type="http://schemas.openxmlformats.org/officeDocument/2006/relationships/notesSlide" Target="/ppt/notesSlides/notesSlide4.xml" Id="R8a774d43909647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1f6fe26df4b8f" /><Relationship Type="http://schemas.openxmlformats.org/officeDocument/2006/relationships/notesSlide" Target="/ppt/notesSlides/notesSlide5.xml" Id="R634737040df647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4EC0B0C-EE89-4E97-ADC9-01E05DB2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RECOMMENDER SYSTEM / BACKEND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EB79855-6E20-4197-B330-12A403A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ホーム推薦</a:t>
            </a:r>
          </a:p>
        </p:txBody>
      </p:sp>
      <p:sp>
        <p:nvSpPr>
          <p:cNvPr id="3" name="subheadline">
            <a:extLst xmlns:a="http://schemas.openxmlformats.org/drawingml/2006/main">
              <a:ext uri="{FF2B5EF4-FFF2-40B4-BE49-F238E27FC236}">
                <a16:creationId xmlns:a16="http://schemas.microsoft.com/office/drawing/2014/main" id="{9F03F025-43FC-49C0-A357-DAD38DBF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検索語がなくても、過去行動と知識グラフから</a:t>
            </a:r>
          </a:p>
          <a:p xmlns:a="http://schemas.openxmlformats.org/drawingml/2006/main">
            <a:pPr algn="l">
              <a:def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次に関心を持ちそうな商品を提示する。</a:t>
            </a:r>
          </a:p>
        </p:txBody>
      </p:sp>
      <p:cxnSp>
        <p:nvCxnSpPr>
          <p:cNvPr id="24" name="accent"/>
          <p:cNvCxnSpPr/>
          <p:nvPr/>
        </p:nvCxnSpPr>
        <p:spPr>
          <a:xfrm xmlns:a="http://schemas.openxmlformats.org/drawingml/2006/main">
            <a:off x="514350" y="3905250"/>
            <a:ext cx="24384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D8DFF"/>
            </a:solidFill>
            <a:prstDash val="solid"/>
          </a:ln>
        </p:spPr>
      </p:cxn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FA508F6B-8612-4D06-9E81-03D93A64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入力：user_id と評価・閲覧履歴　｜　出力：理由付き上位 N 件</a:t>
            </a:r>
          </a:p>
        </p:txBody>
      </p:sp>
      <p:sp>
        <p:nvSpPr>
          <p:cNvPr id="6" name="a1">
            <a:extLst xmlns:a="http://schemas.openxmlformats.org/drawingml/2006/main">
              <a:ext uri="{FF2B5EF4-FFF2-40B4-BE49-F238E27FC236}">
                <a16:creationId xmlns:a16="http://schemas.microsoft.com/office/drawing/2014/main" id="{6EE5225A-8744-4D3D-862B-C8CC1281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2">
            <a:extLst xmlns:a="http://schemas.openxmlformats.org/drawingml/2006/main">
              <a:ext uri="{FF2B5EF4-FFF2-40B4-BE49-F238E27FC236}">
                <a16:creationId xmlns:a16="http://schemas.microsoft.com/office/drawing/2014/main" id="{84B21343-47CB-47F5-85F9-44C60D74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86075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node-user">
            <a:extLst xmlns:a="http://schemas.openxmlformats.org/drawingml/2006/main">
              <a:ext uri="{FF2B5EF4-FFF2-40B4-BE49-F238E27FC236}">
                <a16:creationId xmlns:a16="http://schemas.microsoft.com/office/drawing/2014/main" id="{0EA30EF5-DDA7-4071-8F29-79A28EE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node-graph">
            <a:extLst xmlns:a="http://schemas.openxmlformats.org/drawingml/2006/main">
              <a:ext uri="{FF2B5EF4-FFF2-40B4-BE49-F238E27FC236}">
                <a16:creationId xmlns:a16="http://schemas.microsoft.com/office/drawing/2014/main" id="{08BB4D8B-216A-40CD-AFEC-C647C469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node-card">
            <a:extLst xmlns:a="http://schemas.openxmlformats.org/drawingml/2006/main">
              <a:ext uri="{FF2B5EF4-FFF2-40B4-BE49-F238E27FC236}">
                <a16:creationId xmlns:a16="http://schemas.microsoft.com/office/drawing/2014/main" id="{FEA0F664-3195-482F-9F0D-2FD42917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62200"/>
            <a:ext cx="1181100" cy="138112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11" name="user-symbol">
            <a:extLst xmlns:a="http://schemas.openxmlformats.org/drawingml/2006/main">
              <a:ext uri="{FF2B5EF4-FFF2-40B4-BE49-F238E27FC236}">
                <a16:creationId xmlns:a16="http://schemas.microsoft.com/office/drawing/2014/main" id="{9DA055C0-4842-4A60-AB5E-A475976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</a:t>
            </a:r>
          </a:p>
        </p:txBody>
      </p:sp>
      <p:sp>
        <p:nvSpPr>
          <p:cNvPr id="12" name="user-title">
            <a:extLst xmlns:a="http://schemas.openxmlformats.org/drawingml/2006/main">
              <a:ext uri="{FF2B5EF4-FFF2-40B4-BE49-F238E27FC236}">
                <a16:creationId xmlns:a16="http://schemas.microsoft.com/office/drawing/2014/main" id="{9E73E8A0-B7ED-4C92-A89A-AF3A28CE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3" name="user-body">
            <a:extLst xmlns:a="http://schemas.openxmlformats.org/drawingml/2006/main">
              <a:ext uri="{FF2B5EF4-FFF2-40B4-BE49-F238E27FC236}">
                <a16:creationId xmlns:a16="http://schemas.microsoft.com/office/drawing/2014/main" id="{0242E1C7-992E-40D1-9DBE-EC81D7A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0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RATED / VIEWED</a:t>
            </a:r>
          </a:p>
        </p:txBody>
      </p:sp>
      <p:sp>
        <p:nvSpPr>
          <p:cNvPr id="14" name="graph-symbol">
            <a:extLst xmlns:a="http://schemas.openxmlformats.org/drawingml/2006/main">
              <a:ext uri="{FF2B5EF4-FFF2-40B4-BE49-F238E27FC236}">
                <a16:creationId xmlns:a16="http://schemas.microsoft.com/office/drawing/2014/main" id="{2D74B197-E469-465A-AFFB-FEF82CC6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KG</a:t>
            </a:r>
          </a:p>
        </p:txBody>
      </p:sp>
      <p:sp>
        <p:nvSpPr>
          <p:cNvPr id="15" name="graph-title">
            <a:extLst xmlns:a="http://schemas.openxmlformats.org/drawingml/2006/main">
              <a:ext uri="{FF2B5EF4-FFF2-40B4-BE49-F238E27FC236}">
                <a16:creationId xmlns:a16="http://schemas.microsoft.com/office/drawing/2014/main" id="{FD1FC651-1C73-45B3-9102-B0FD751A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Neo4j</a:t>
            </a:r>
          </a:p>
        </p:txBody>
      </p:sp>
      <p:sp>
        <p:nvSpPr>
          <p:cNvPr id="16" name="graph-body">
            <a:extLst xmlns:a="http://schemas.openxmlformats.org/drawingml/2006/main">
              <a:ext uri="{FF2B5EF4-FFF2-40B4-BE49-F238E27FC236}">
                <a16:creationId xmlns:a16="http://schemas.microsoft.com/office/drawing/2014/main" id="{6EECBB43-1797-4B2B-8B62-56B40A7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004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属性・ユーザ関係</a:t>
            </a:r>
          </a:p>
        </p:txBody>
      </p:sp>
      <p:sp>
        <p:nvSpPr>
          <p:cNvPr id="17" name="card-symbol">
            <a:extLst xmlns:a="http://schemas.openxmlformats.org/drawingml/2006/main">
              <a:ext uri="{FF2B5EF4-FFF2-40B4-BE49-F238E27FC236}">
                <a16:creationId xmlns:a16="http://schemas.microsoft.com/office/drawing/2014/main" id="{C3EC6516-D903-43F3-AF23-789B1427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rPr>
              <a:t>Top N</a:t>
            </a:r>
          </a:p>
        </p:txBody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CF24CEFE-1A7F-48F3-AA9D-E74FB3B8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推薦結果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EA05A40D-D0B3-4622-A1A7-7D88A97D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04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理由も返却</a:t>
            </a:r>
          </a:p>
        </p:txBody>
      </p:sp>
      <p:sp>
        <p:nvSpPr>
          <p:cNvPr id="20" name="source">
            <a:extLst xmlns:a="http://schemas.openxmlformats.org/drawingml/2006/main">
              <a:ext uri="{FF2B5EF4-FFF2-40B4-BE49-F238E27FC236}">
                <a16:creationId xmlns:a16="http://schemas.microsoft.com/office/drawing/2014/main" id="{CF41B5D1-112D-4153-9E88-8BC49793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実装範囲：app/api/recommender.py の recommend_home() と Neo4j meta-path retrieval</a:t>
            </a:r>
          </a:p>
        </p:txBody>
      </p:sp>
    </p:spTree>
    <p:extLst>
      <p:ext uri="{BB962C8B-B14F-4D97-AF65-F5344CB8AC3E}">
        <p14:creationId xmlns:p14="http://schemas.microsoft.com/office/powerpoint/2010/main" val="1889796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0647D73C-EBA4-461F-8A36-E6AB8C7B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/ ONLINE FLOW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C7A4957-285C-46B8-9C61-54D3B40D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ホームでは、行動履歴から候補を生成し、理由とともに返す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FD06B6D-4198-4023-8E9E-8815DF14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会話の現在条件は使わず、過去の評価・閲覧行動を個人化の材料にする。</a:t>
            </a:r>
          </a:p>
        </p:txBody>
      </p:sp>
      <p:cxnSp>
        <p:nvCxnSpPr>
          <p:cNvPr id="36" name="rule-2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8F76A194-1E9E-41B4-8284-C4907434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02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D452DC3-F6B2-474B-B33D-FA409FF9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3CF60A9-62CF-4189-8B45-1B2E9EA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8FD615A-CFBB-4194-A905-E306E4E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AD6A7E60-F333-4903-963A-396EA2F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10" name="flow-0">
            <a:extLst xmlns:a="http://schemas.openxmlformats.org/drawingml/2006/main">
              <a:ext uri="{FF2B5EF4-FFF2-40B4-BE49-F238E27FC236}">
                <a16:creationId xmlns:a16="http://schemas.microsoft.com/office/drawing/2014/main" id="{044E5308-F0D6-430A-B7BA-4539F3DF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flow-h-0">
            <a:extLst xmlns:a="http://schemas.openxmlformats.org/drawingml/2006/main">
              <a:ext uri="{FF2B5EF4-FFF2-40B4-BE49-F238E27FC236}">
                <a16:creationId xmlns:a16="http://schemas.microsoft.com/office/drawing/2014/main" id="{D1CC7FC8-BC7F-4860-9D63-E75A4EF1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① 履歴取得</a:t>
            </a:r>
          </a:p>
        </p:txBody>
      </p:sp>
      <p:cxnSp>
        <p:nvCxnSpPr>
          <p:cNvPr id="44" name="flow-rule-0"/>
          <p:cNvCxnSpPr/>
          <p:nvPr/>
        </p:nvCxnSpPr>
        <p:spPr>
          <a:xfrm xmlns:a="http://schemas.openxmlformats.org/drawingml/2006/main">
            <a:off x="552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3" name="flow-b-0">
            <a:extLst xmlns:a="http://schemas.openxmlformats.org/drawingml/2006/main">
              <a:ext uri="{FF2B5EF4-FFF2-40B4-BE49-F238E27FC236}">
                <a16:creationId xmlns:a16="http://schemas.microsoft.com/office/drawing/2014/main" id="{6F474798-1892-4362-AF5B-4C2AE425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RATED / VIEWED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既見商品も把握</a:t>
            </a:r>
          </a:p>
        </p:txBody>
      </p:sp>
      <p:sp>
        <p:nvSpPr>
          <p:cNvPr id="14" name="flow-1">
            <a:extLst xmlns:a="http://schemas.openxmlformats.org/drawingml/2006/main">
              <a:ext uri="{FF2B5EF4-FFF2-40B4-BE49-F238E27FC236}">
                <a16:creationId xmlns:a16="http://schemas.microsoft.com/office/drawing/2014/main" id="{B1A7C08B-A92A-41EA-8199-1DD3D951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flow-h-1">
            <a:extLst xmlns:a="http://schemas.openxmlformats.org/drawingml/2006/main">
              <a:ext uri="{FF2B5EF4-FFF2-40B4-BE49-F238E27FC236}">
                <a16:creationId xmlns:a16="http://schemas.microsoft.com/office/drawing/2014/main" id="{E318D330-E53D-4A5B-85BF-FFEB20E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② グラフ探索</a:t>
            </a:r>
          </a:p>
        </p:txBody>
      </p:sp>
      <p:cxnSp>
        <p:nvCxnSpPr>
          <p:cNvPr id="48" name="flow-rule-1"/>
          <p:cNvCxnSpPr/>
          <p:nvPr/>
        </p:nvCxnSpPr>
        <p:spPr>
          <a:xfrm xmlns:a="http://schemas.openxmlformats.org/drawingml/2006/main">
            <a:off x="2838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7" name="flow-b-1">
            <a:extLst xmlns:a="http://schemas.openxmlformats.org/drawingml/2006/main">
              <a:ext uri="{FF2B5EF4-FFF2-40B4-BE49-F238E27FC236}">
                <a16:creationId xmlns:a16="http://schemas.microsoft.com/office/drawing/2014/main" id="{F2C4E0C4-B1AD-469C-8B02-2EB30896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属性共有・類似ユーザ・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時系列遷移を探索</a:t>
            </a:r>
          </a:p>
        </p:txBody>
      </p: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B0D2E172-CD7F-4462-8C8A-F09A1CD9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flow-h-2">
            <a:extLst xmlns:a="http://schemas.openxmlformats.org/drawingml/2006/main">
              <a:ext uri="{FF2B5EF4-FFF2-40B4-BE49-F238E27FC236}">
                <a16:creationId xmlns:a16="http://schemas.microsoft.com/office/drawing/2014/main" id="{3F72386C-C761-43D7-948C-D77D0456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③ スコアリング</a:t>
            </a:r>
          </a:p>
        </p:txBody>
      </p:sp>
      <p:cxnSp>
        <p:nvCxnSpPr>
          <p:cNvPr id="52" name="flow-rule-2"/>
          <p:cNvCxnSpPr/>
          <p:nvPr/>
        </p:nvCxnSpPr>
        <p:spPr>
          <a:xfrm xmlns:a="http://schemas.openxmlformats.org/drawingml/2006/main">
            <a:off x="5124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1" name="flow-b-2">
            <a:extLst xmlns:a="http://schemas.openxmlformats.org/drawingml/2006/main">
              <a:ext uri="{FF2B5EF4-FFF2-40B4-BE49-F238E27FC236}">
                <a16:creationId xmlns:a16="http://schemas.microsoft.com/office/drawing/2014/main" id="{E3A44AE8-7539-4BA0-B170-EFA2BE5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強い行動根拠を優先し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品質情報を加算</a:t>
            </a:r>
          </a:p>
        </p:txBody>
      </p:sp>
      <p:sp>
        <p:nvSpPr>
          <p:cNvPr id="22" name="flow-3">
            <a:extLst xmlns:a="http://schemas.openxmlformats.org/drawingml/2006/main">
              <a:ext uri="{FF2B5EF4-FFF2-40B4-BE49-F238E27FC236}">
                <a16:creationId xmlns:a16="http://schemas.microsoft.com/office/drawing/2014/main" id="{A72D71CA-4F62-44A4-8EE8-543272B1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flow-h-3">
            <a:extLst xmlns:a="http://schemas.openxmlformats.org/drawingml/2006/main">
              <a:ext uri="{FF2B5EF4-FFF2-40B4-BE49-F238E27FC236}">
                <a16:creationId xmlns:a16="http://schemas.microsoft.com/office/drawing/2014/main" id="{D2168761-14D6-46BE-8047-3983E120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④ 結果整形</a:t>
            </a:r>
          </a:p>
        </p:txBody>
      </p:sp>
      <p:cxnSp>
        <p:nvCxnSpPr>
          <p:cNvPr id="56" name="flow-rule-3"/>
          <p:cNvCxnSpPr/>
          <p:nvPr/>
        </p:nvCxnSpPr>
        <p:spPr>
          <a:xfrm xmlns:a="http://schemas.openxmlformats.org/drawingml/2006/main">
            <a:off x="7410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5" name="flow-b-3">
            <a:extLst xmlns:a="http://schemas.openxmlformats.org/drawingml/2006/main">
              <a:ext uri="{FF2B5EF4-FFF2-40B4-BE49-F238E27FC236}">
                <a16:creationId xmlns:a16="http://schemas.microsoft.com/office/drawing/2014/main" id="{A8819072-5249-4724-AFA7-0AE52B01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上位 N 件、理由、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根拠指標を API へ</a:t>
            </a:r>
          </a:p>
        </p:txBody>
      </p:sp>
      <p:sp>
        <p:nvSpPr>
          <p:cNvPr id="26" name="flow-4">
            <a:extLst xmlns:a="http://schemas.openxmlformats.org/drawingml/2006/main">
              <a:ext uri="{FF2B5EF4-FFF2-40B4-BE49-F238E27FC236}">
                <a16:creationId xmlns:a16="http://schemas.microsoft.com/office/drawing/2014/main" id="{78ACC5A2-F46E-4CF8-A1A7-B7906DFE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27" name="flow-h-4">
            <a:extLst xmlns:a="http://schemas.openxmlformats.org/drawingml/2006/main">
              <a:ext uri="{FF2B5EF4-FFF2-40B4-BE49-F238E27FC236}">
                <a16:creationId xmlns:a16="http://schemas.microsoft.com/office/drawing/2014/main" id="{C1E49537-7713-4120-A785-326D96E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⑤ 画面表示</a:t>
            </a:r>
          </a:p>
        </p:txBody>
      </p:sp>
      <p:cxnSp>
        <p:nvCxnSpPr>
          <p:cNvPr id="60" name="flow-rule-4"/>
          <p:cNvCxnSpPr/>
          <p:nvPr/>
        </p:nvCxnSpPr>
        <p:spPr>
          <a:xfrm xmlns:a="http://schemas.openxmlformats.org/drawingml/2006/main">
            <a:off x="9696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9" name="flow-b-4">
            <a:extLst xmlns:a="http://schemas.openxmlformats.org/drawingml/2006/main">
              <a:ext uri="{FF2B5EF4-FFF2-40B4-BE49-F238E27FC236}">
                <a16:creationId xmlns:a16="http://schemas.microsoft.com/office/drawing/2014/main" id="{3D7AE8D3-C6C7-412C-9414-DDEC3F9B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推薦カードと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説明ラベルを表示</a:t>
            </a:r>
          </a:p>
        </p:txBody>
      </p:sp>
      <p:sp>
        <p:nvSpPr>
          <p:cNvPr id="30" name="fallback">
            <a:extLst xmlns:a="http://schemas.openxmlformats.org/drawingml/2006/main">
              <a:ext uri="{FF2B5EF4-FFF2-40B4-BE49-F238E27FC236}">
                <a16:creationId xmlns:a16="http://schemas.microsoft.com/office/drawing/2014/main" id="{7C3CBE5E-8BDB-4DF7-B496-13184AA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5C28B"/>
            </a:solidFill>
            <a:prstDash val="solid"/>
          </a:ln>
        </p:spPr>
      </p:sp>
      <p:sp>
        <p:nvSpPr>
          <p:cNvPr id="31" name="fallback-title">
            <a:extLst xmlns:a="http://schemas.openxmlformats.org/drawingml/2006/main">
              <a:ext uri="{FF2B5EF4-FFF2-40B4-BE49-F238E27FC236}">
                <a16:creationId xmlns:a16="http://schemas.microsoft.com/office/drawing/2014/main" id="{C74C84A8-4271-4525-B3A1-3E7A9D6C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履歴がない／個人化候補が作れない場合</a:t>
            </a:r>
          </a:p>
        </p:txBody>
      </p:sp>
      <p:sp>
        <p:nvSpPr>
          <p:cNvPr id="32" name="fallback-body">
            <a:extLst xmlns:a="http://schemas.openxmlformats.org/drawingml/2006/main">
              <a:ext uri="{FF2B5EF4-FFF2-40B4-BE49-F238E27FC236}">
                <a16:creationId xmlns:a16="http://schemas.microsoft.com/office/drawing/2014/main" id="{4D0C844F-6E6A-4556-B739-C7E670DE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個人化を無理に推測せず、評価・評価数に基づく人気商品の推薦へフォールバックする。</a:t>
            </a:r>
          </a:p>
        </p:txBody>
      </p:sp>
    </p:spTree>
    <p:extLst>
      <p:ext uri="{BB962C8B-B14F-4D97-AF65-F5344CB8AC3E}">
        <p14:creationId xmlns:p14="http://schemas.microsoft.com/office/powerpoint/2010/main" val="2031396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4E7840A9-85AC-4FE3-B463-DBD55B1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/ GRAPH SIGNALS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9C5395-AB1D-4B9A-A3CA-60C38B06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4つのグラフ経路が「好み」を異なる角度から捉える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B8FFF0CF-D824-4A45-8E59-7D1637C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候補は、ユーザと商品の直接履歴だけでなく、属性・他ユーザ・時系列の関係から得る。</a:t>
            </a:r>
          </a:p>
        </p:txBody>
      </p:sp>
      <p:cxnSp>
        <p:nvCxnSpPr>
          <p:cNvPr id="38" name="rule-3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6BD40E2B-BE45-4723-8831-CE72B24B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03</a:t>
            </a:r>
          </a:p>
        </p:txBody>
      </p:sp>
      <p:sp>
        <p:nvSpPr>
          <p:cNvPr id="6" name="signal-0">
            <a:extLst xmlns:a="http://schemas.openxmlformats.org/drawingml/2006/main">
              <a:ext uri="{FF2B5EF4-FFF2-40B4-BE49-F238E27FC236}">
                <a16:creationId xmlns:a16="http://schemas.microsoft.com/office/drawing/2014/main" id="{4AEE7BC1-6167-4DD5-A116-FD5CF13C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33650" cy="3143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ignal-pill-0">
            <a:extLst xmlns:a="http://schemas.openxmlformats.org/drawingml/2006/main">
              <a:ext uri="{FF2B5EF4-FFF2-40B4-BE49-F238E27FC236}">
                <a16:creationId xmlns:a16="http://schemas.microsoft.com/office/drawing/2014/main" id="{DBF7DA3F-4DD3-40DF-BF6D-AA3F447E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signal-pill-0-text">
            <a:extLst xmlns:a="http://schemas.openxmlformats.org/drawingml/2006/main">
              <a:ext uri="{FF2B5EF4-FFF2-40B4-BE49-F238E27FC236}">
                <a16:creationId xmlns:a16="http://schemas.microsoft.com/office/drawing/2014/main" id="{D24A1FBE-8424-486A-B6FE-023A1FA9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PATH 1</a:t>
            </a:r>
          </a:p>
        </p:txBody>
      </p:sp>
      <p:sp>
        <p:nvSpPr>
          <p:cNvPr id="9" name="signal-head-0">
            <a:extLst xmlns:a="http://schemas.openxmlformats.org/drawingml/2006/main">
              <a:ext uri="{FF2B5EF4-FFF2-40B4-BE49-F238E27FC236}">
                <a16:creationId xmlns:a16="http://schemas.microsoft.com/office/drawing/2014/main" id="{693E0812-1B93-42F9-964C-209ABD3D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高評価商品の属性</a:t>
            </a:r>
          </a:p>
        </p:txBody>
      </p:sp>
      <p:cxnSp>
        <p:nvCxnSpPr>
          <p:cNvPr id="44" name="signal-line-0"/>
          <p:cNvCxnSpPr/>
          <p:nvPr/>
        </p:nvCxnSpPr>
        <p:spPr>
          <a:xfrm xmlns:a="http://schemas.openxmlformats.org/drawingml/2006/main">
            <a:off x="571500" y="35433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1" name="signal-path-0">
            <a:extLst xmlns:a="http://schemas.openxmlformats.org/drawingml/2006/main">
              <a:ext uri="{FF2B5EF4-FFF2-40B4-BE49-F238E27FC236}">
                <a16:creationId xmlns:a16="http://schemas.microsoft.com/office/drawing/2014/main" id="{2B81BB8E-6B7E-4DF6-B3B2-B20C6AC0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User → RATED(≥4) → Product</a:t>
            </a:r>
          </a:p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 Attribute → Candidate</a:t>
            </a:r>
          </a:p>
        </p:txBody>
      </p:sp>
      <p:sp>
        <p:nvSpPr>
          <p:cNvPr id="12" name="signal-body-0">
            <a:extLst xmlns:a="http://schemas.openxmlformats.org/drawingml/2006/main">
              <a:ext uri="{FF2B5EF4-FFF2-40B4-BE49-F238E27FC236}">
                <a16:creationId xmlns:a16="http://schemas.microsoft.com/office/drawing/2014/main" id="{B7F66244-7594-4905-8596-FE0E6942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過去に高評価した作品と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同じ属性を持つ候補</a:t>
            </a:r>
          </a:p>
        </p:txBody>
      </p:sp>
      <p:sp>
        <p:nvSpPr>
          <p:cNvPr id="13" name="signal-1">
            <a:extLst xmlns:a="http://schemas.openxmlformats.org/drawingml/2006/main">
              <a:ext uri="{FF2B5EF4-FFF2-40B4-BE49-F238E27FC236}">
                <a16:creationId xmlns:a16="http://schemas.microsoft.com/office/drawing/2014/main" id="{9B103BBE-EA5D-446B-A4F8-C0C6338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533650" cy="3143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signal-pill-1">
            <a:extLst xmlns:a="http://schemas.openxmlformats.org/drawingml/2006/main">
              <a:ext uri="{FF2B5EF4-FFF2-40B4-BE49-F238E27FC236}">
                <a16:creationId xmlns:a16="http://schemas.microsoft.com/office/drawing/2014/main" id="{4DE3FB06-C48B-4AAB-8E1A-58FA937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5" name="signal-pill-1-text">
            <a:extLst xmlns:a="http://schemas.openxmlformats.org/drawingml/2006/main">
              <a:ext uri="{FF2B5EF4-FFF2-40B4-BE49-F238E27FC236}">
                <a16:creationId xmlns:a16="http://schemas.microsoft.com/office/drawing/2014/main" id="{2E4D7CD0-B58B-46AD-9C5B-E0F18C39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PATH 2</a:t>
            </a:r>
          </a:p>
        </p:txBody>
      </p:sp>
      <p:sp>
        <p:nvSpPr>
          <p:cNvPr id="16" name="signal-head-1">
            <a:extLst xmlns:a="http://schemas.openxmlformats.org/drawingml/2006/main">
              <a:ext uri="{FF2B5EF4-FFF2-40B4-BE49-F238E27FC236}">
                <a16:creationId xmlns:a16="http://schemas.microsoft.com/office/drawing/2014/main" id="{FC3CC5B7-8A51-4B37-9471-9F8193F5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最近閲覧した商品の属性</a:t>
            </a:r>
          </a:p>
        </p:txBody>
      </p:sp>
      <p:cxnSp>
        <p:nvCxnSpPr>
          <p:cNvPr id="51" name="signal-line-1"/>
          <p:cNvCxnSpPr/>
          <p:nvPr/>
        </p:nvCxnSpPr>
        <p:spPr>
          <a:xfrm xmlns:a="http://schemas.openxmlformats.org/drawingml/2006/main">
            <a:off x="3429000" y="35433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signal-path-1">
            <a:extLst xmlns:a="http://schemas.openxmlformats.org/drawingml/2006/main">
              <a:ext uri="{FF2B5EF4-FFF2-40B4-BE49-F238E27FC236}">
                <a16:creationId xmlns:a16="http://schemas.microsoft.com/office/drawing/2014/main" id="{231920E6-22A5-45EE-BC51-434FE4C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33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User → VIEWED → Product</a:t>
            </a:r>
          </a:p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 Attribute → Candidate</a:t>
            </a:r>
          </a:p>
        </p:txBody>
      </p:sp>
      <p:sp>
        <p:nvSpPr>
          <p:cNvPr id="19" name="signal-body-1">
            <a:extLst xmlns:a="http://schemas.openxmlformats.org/drawingml/2006/main">
              <a:ext uri="{FF2B5EF4-FFF2-40B4-BE49-F238E27FC236}">
                <a16:creationId xmlns:a16="http://schemas.microsoft.com/office/drawing/2014/main" id="{4D872F2E-B662-4E88-8DB6-E0B07A76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直近の探索意図に近い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候補を補強</a:t>
            </a:r>
          </a:p>
        </p:txBody>
      </p:sp>
      <p:sp>
        <p:nvSpPr>
          <p:cNvPr id="20" name="signal-2">
            <a:extLst xmlns:a="http://schemas.openxmlformats.org/drawingml/2006/main">
              <a:ext uri="{FF2B5EF4-FFF2-40B4-BE49-F238E27FC236}">
                <a16:creationId xmlns:a16="http://schemas.microsoft.com/office/drawing/2014/main" id="{F4FBA7FA-E824-466F-A8F6-CC44CB3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533650" cy="3143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signal-pill-2">
            <a:extLst xmlns:a="http://schemas.openxmlformats.org/drawingml/2006/main">
              <a:ext uri="{FF2B5EF4-FFF2-40B4-BE49-F238E27FC236}">
                <a16:creationId xmlns:a16="http://schemas.microsoft.com/office/drawing/2014/main" id="{C04BD926-924E-4A7C-9CD3-4332DA17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22" name="signal-pill-2-text">
            <a:extLst xmlns:a="http://schemas.openxmlformats.org/drawingml/2006/main">
              <a:ext uri="{FF2B5EF4-FFF2-40B4-BE49-F238E27FC236}">
                <a16:creationId xmlns:a16="http://schemas.microsoft.com/office/drawing/2014/main" id="{C2889A62-F0BB-47D3-8775-61C5436C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PATH 3</a:t>
            </a:r>
          </a:p>
        </p:txBody>
      </p:sp>
      <p:sp>
        <p:nvSpPr>
          <p:cNvPr id="23" name="signal-head-2">
            <a:extLst xmlns:a="http://schemas.openxmlformats.org/drawingml/2006/main">
              <a:ext uri="{FF2B5EF4-FFF2-40B4-BE49-F238E27FC236}">
                <a16:creationId xmlns:a16="http://schemas.microsoft.com/office/drawing/2014/main" id="{57594B5A-A51C-49B1-833B-876B603B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67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類似ユーザの評価</a:t>
            </a:r>
          </a:p>
        </p:txBody>
      </p:sp>
      <p:cxnSp>
        <p:nvCxnSpPr>
          <p:cNvPr id="58" name="signal-line-2"/>
          <p:cNvCxnSpPr/>
          <p:nvPr/>
        </p:nvCxnSpPr>
        <p:spPr>
          <a:xfrm xmlns:a="http://schemas.openxmlformats.org/drawingml/2006/main">
            <a:off x="6286500" y="35433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5" name="signal-path-2">
            <a:extLst xmlns:a="http://schemas.openxmlformats.org/drawingml/2006/main">
              <a:ext uri="{FF2B5EF4-FFF2-40B4-BE49-F238E27FC236}">
                <a16:creationId xmlns:a16="http://schemas.microsoft.com/office/drawing/2014/main" id="{BC594775-5B70-43AC-B3FB-EA9A5C90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User → liked Product ← Peer</a:t>
            </a:r>
          </a:p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 highly rated Candidate</a:t>
            </a:r>
          </a:p>
        </p:txBody>
      </p:sp>
      <p:sp>
        <p:nvSpPr>
          <p:cNvPr id="26" name="signal-body-2">
            <a:extLst xmlns:a="http://schemas.openxmlformats.org/drawingml/2006/main">
              <a:ext uri="{FF2B5EF4-FFF2-40B4-BE49-F238E27FC236}">
                <a16:creationId xmlns:a16="http://schemas.microsoft.com/office/drawing/2014/main" id="{300E1F22-DBD8-4194-9630-74ACBB5A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評価傾向が近い人が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高評価した候補</a:t>
            </a:r>
          </a:p>
        </p:txBody>
      </p:sp>
      <p:sp>
        <p:nvSpPr>
          <p:cNvPr id="27" name="signal-3">
            <a:extLst xmlns:a="http://schemas.openxmlformats.org/drawingml/2006/main">
              <a:ext uri="{FF2B5EF4-FFF2-40B4-BE49-F238E27FC236}">
                <a16:creationId xmlns:a16="http://schemas.microsoft.com/office/drawing/2014/main" id="{32869C94-0C6D-496A-BC99-EF802DD0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533650" cy="3143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ignal-pill-3">
            <a:extLst xmlns:a="http://schemas.openxmlformats.org/drawingml/2006/main">
              <a:ext uri="{FF2B5EF4-FFF2-40B4-BE49-F238E27FC236}">
                <a16:creationId xmlns:a16="http://schemas.microsoft.com/office/drawing/2014/main" id="{16483B2D-D4DF-4F93-B550-58CB33C9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29" name="signal-pill-3-text">
            <a:extLst xmlns:a="http://schemas.openxmlformats.org/drawingml/2006/main">
              <a:ext uri="{FF2B5EF4-FFF2-40B4-BE49-F238E27FC236}">
                <a16:creationId xmlns:a16="http://schemas.microsoft.com/office/drawing/2014/main" id="{F9D75358-FC00-4144-98A0-2BD893D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PATH 4</a:t>
            </a:r>
          </a:p>
        </p:txBody>
      </p:sp>
      <p:sp>
        <p:nvSpPr>
          <p:cNvPr id="30" name="signal-head-3">
            <a:extLst xmlns:a="http://schemas.openxmlformats.org/drawingml/2006/main">
              <a:ext uri="{FF2B5EF4-FFF2-40B4-BE49-F238E27FC236}">
                <a16:creationId xmlns:a16="http://schemas.microsoft.com/office/drawing/2014/main" id="{B221FD4D-51F6-4B1B-81D3-E293E0C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次に選ばれる遷移</a:t>
            </a:r>
          </a:p>
        </p:txBody>
      </p:sp>
      <p:cxnSp>
        <p:nvCxnSpPr>
          <p:cNvPr id="65" name="signal-line-3"/>
          <p:cNvCxnSpPr/>
          <p:nvPr/>
        </p:nvCxnSpPr>
        <p:spPr>
          <a:xfrm xmlns:a="http://schemas.openxmlformats.org/drawingml/2006/main">
            <a:off x="9144000" y="35433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2" name="signal-path-3">
            <a:extLst xmlns:a="http://schemas.openxmlformats.org/drawingml/2006/main">
              <a:ext uri="{FF2B5EF4-FFF2-40B4-BE49-F238E27FC236}">
                <a16:creationId xmlns:a16="http://schemas.microsoft.com/office/drawing/2014/main" id="{79A2DAF4-E927-4542-89A5-09F804F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433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recent liked Product ← Peer</a:t>
            </a:r>
          </a:p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 later rated Candidate</a:t>
            </a:r>
          </a:p>
        </p:txBody>
      </p:sp>
      <p:sp>
        <p:nvSpPr>
          <p:cNvPr id="33" name="signal-body-3">
            <a:extLst xmlns:a="http://schemas.openxmlformats.org/drawingml/2006/main">
              <a:ext uri="{FF2B5EF4-FFF2-40B4-BE49-F238E27FC236}">
                <a16:creationId xmlns:a16="http://schemas.microsoft.com/office/drawing/2014/main" id="{D23CD0C4-DAF0-41BB-B0B5-0864151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似た行動の後に選ばれた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候補を強く評価</a:t>
            </a:r>
          </a:p>
        </p:txBody>
      </p:sp>
      <p:sp>
        <p:nvSpPr>
          <p:cNvPr id="34" name="exclude">
            <a:extLst xmlns:a="http://schemas.openxmlformats.org/drawingml/2006/main">
              <a:ext uri="{FF2B5EF4-FFF2-40B4-BE49-F238E27FC236}">
                <a16:creationId xmlns:a16="http://schemas.microsoft.com/office/drawing/2014/main" id="{184346E9-DA67-40AD-B0E8-7E717C0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876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共通ルール：すでに RATED または VIEWED の商品は候補から除外する。</a:t>
            </a:r>
          </a:p>
        </p:txBody>
      </p:sp>
    </p:spTree>
    <p:extLst>
      <p:ext uri="{BB962C8B-B14F-4D97-AF65-F5344CB8AC3E}">
        <p14:creationId xmlns:p14="http://schemas.microsoft.com/office/powerpoint/2010/main" val="12105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5DACA3AB-5BA0-4E84-9722-0E7748A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/ RANKING &amp; EXPLANATION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1B9029F-6AEE-472C-AF27-AC8D7069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順位は、行動根拠を中心に、商品品質で安定化させる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A4864312-B581-4999-84E7-AD6532C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スコアは固定の重み付き式で算出し、最も強い根拠を推薦理由として返す。</a:t>
            </a:r>
          </a:p>
        </p:txBody>
      </p:sp>
      <p:cxnSp>
        <p:nvCxnSpPr>
          <p:cNvPr id="32" name="rule-4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BC7AC56B-4327-49AC-A169-41E7C9FC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04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6E92E68A-85C2-4EDD-9511-CFC8B82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相対的な寄与</a:t>
            </a:r>
          </a:p>
        </p:txBody>
      </p:sp>
      <p:sp>
        <p:nvSpPr>
          <p:cNvPr id="7" name="rank-label-0">
            <a:extLst xmlns:a="http://schemas.openxmlformats.org/drawingml/2006/main">
              <a:ext uri="{FF2B5EF4-FFF2-40B4-BE49-F238E27FC236}">
                <a16:creationId xmlns:a16="http://schemas.microsoft.com/office/drawing/2014/main" id="{E5630493-9791-4D5E-90A9-2F0D5FEB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次に選ばれる遷移</a:t>
            </a:r>
          </a:p>
        </p:txBody>
      </p:sp>
      <p:sp>
        <p:nvSpPr>
          <p:cNvPr id="8" name="rank-bar-0">
            <a:extLst xmlns:a="http://schemas.openxmlformats.org/drawingml/2006/main">
              <a:ext uri="{FF2B5EF4-FFF2-40B4-BE49-F238E27FC236}">
                <a16:creationId xmlns:a16="http://schemas.microsoft.com/office/drawing/2014/main" id="{4389BC0A-234D-4B2F-85B5-8D80A47A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28875"/>
            <a:ext cx="4000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rank-detail-0">
            <a:extLst xmlns:a="http://schemas.openxmlformats.org/drawingml/2006/main">
              <a:ext uri="{FF2B5EF4-FFF2-40B4-BE49-F238E27FC236}">
                <a16:creationId xmlns:a16="http://schemas.microsoft.com/office/drawing/2014/main" id="{7DB85893-B9CC-4E2F-A5C8-18EAF279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955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最も強い行動シグナル</a:t>
            </a:r>
          </a:p>
        </p:txBody>
      </p:sp>
      <p:sp>
        <p:nvSpPr>
          <p:cNvPr id="10" name="rank-label-1">
            <a:extLst xmlns:a="http://schemas.openxmlformats.org/drawingml/2006/main">
              <a:ext uri="{FF2B5EF4-FFF2-40B4-BE49-F238E27FC236}">
                <a16:creationId xmlns:a16="http://schemas.microsoft.com/office/drawing/2014/main" id="{2CB4C953-8A9D-4736-9887-BEB39FBA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類似ユーザの高評価</a:t>
            </a:r>
          </a:p>
        </p:txBody>
      </p:sp>
      <p:sp>
        <p:nvSpPr>
          <p:cNvPr id="11" name="rank-bar-1">
            <a:extLst xmlns:a="http://schemas.openxmlformats.org/drawingml/2006/main">
              <a:ext uri="{FF2B5EF4-FFF2-40B4-BE49-F238E27FC236}">
                <a16:creationId xmlns:a16="http://schemas.microsoft.com/office/drawing/2014/main" id="{CD4233AD-CCA8-4FD6-AA8B-FC41EEC0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81325"/>
            <a:ext cx="2905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FF"/>
          </a:solidFill>
          <a:ln xmlns:a="http://schemas.openxmlformats.org/drawingml/2006/main" w="9525">
            <a:solidFill>
              <a:srgbClr val="5FA8FF"/>
            </a:solidFill>
            <a:prstDash val="solid"/>
          </a:ln>
        </p:spPr>
      </p:sp>
      <p:sp>
        <p:nvSpPr>
          <p:cNvPr id="12" name="rank-detail-1">
            <a:extLst xmlns:a="http://schemas.openxmlformats.org/drawingml/2006/main">
              <a:ext uri="{FF2B5EF4-FFF2-40B4-BE49-F238E27FC236}">
                <a16:creationId xmlns:a16="http://schemas.microsoft.com/office/drawing/2014/main" id="{B637BF24-56E9-4AA8-A088-4688D1A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協調フィルタリング</a:t>
            </a:r>
          </a:p>
        </p:txBody>
      </p:sp>
      <p:sp>
        <p:nvSpPr>
          <p:cNvPr id="13" name="rank-label-2">
            <a:extLst xmlns:a="http://schemas.openxmlformats.org/drawingml/2006/main">
              <a:ext uri="{FF2B5EF4-FFF2-40B4-BE49-F238E27FC236}">
                <a16:creationId xmlns:a16="http://schemas.microsoft.com/office/drawing/2014/main" id="{F7324F59-7D7B-41F0-B3BF-82C265F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高評価商品との属性共有</a:t>
            </a:r>
          </a:p>
        </p:txBody>
      </p:sp>
      <p:sp>
        <p:nvSpPr>
          <p:cNvPr id="14" name="rank-bar-2">
            <a:extLst xmlns:a="http://schemas.openxmlformats.org/drawingml/2006/main">
              <a:ext uri="{FF2B5EF4-FFF2-40B4-BE49-F238E27FC236}">
                <a16:creationId xmlns:a16="http://schemas.microsoft.com/office/drawing/2014/main" id="{11BA4EB1-35B9-4A70-AA7B-65148071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33775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C2FF"/>
          </a:solidFill>
          <a:ln xmlns:a="http://schemas.openxmlformats.org/drawingml/2006/main" w="9525">
            <a:solidFill>
              <a:srgbClr val="8BC2FF"/>
            </a:solidFill>
            <a:prstDash val="solid"/>
          </a:ln>
        </p:spPr>
      </p:sp>
      <p:sp>
        <p:nvSpPr>
          <p:cNvPr id="15" name="rank-detail-2">
            <a:extLst xmlns:a="http://schemas.openxmlformats.org/drawingml/2006/main">
              <a:ext uri="{FF2B5EF4-FFF2-40B4-BE49-F238E27FC236}">
                <a16:creationId xmlns:a16="http://schemas.microsoft.com/office/drawing/2014/main" id="{845548D0-086F-4450-8F90-06FF75F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00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長期的な好み</a:t>
            </a:r>
          </a:p>
        </p:txBody>
      </p:sp>
      <p:sp>
        <p:nvSpPr>
          <p:cNvPr id="16" name="rank-label-3">
            <a:extLst xmlns:a="http://schemas.openxmlformats.org/drawingml/2006/main">
              <a:ext uri="{FF2B5EF4-FFF2-40B4-BE49-F238E27FC236}">
                <a16:creationId xmlns:a16="http://schemas.microsoft.com/office/drawing/2014/main" id="{B0D8FA61-8167-4A99-83B7-FA61DA88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最近閲覧との属性共有</a:t>
            </a:r>
          </a:p>
        </p:txBody>
      </p:sp>
      <p:sp>
        <p:nvSpPr>
          <p:cNvPr id="17" name="rank-bar-3">
            <a:extLst xmlns:a="http://schemas.openxmlformats.org/drawingml/2006/main">
              <a:ext uri="{FF2B5EF4-FFF2-40B4-BE49-F238E27FC236}">
                <a16:creationId xmlns:a16="http://schemas.microsoft.com/office/drawing/2014/main" id="{00632FE0-465B-4681-8E20-F212E2E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86225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0FF"/>
          </a:solidFill>
          <a:ln xmlns:a="http://schemas.openxmlformats.org/drawingml/2006/main" w="9525">
            <a:solidFill>
              <a:srgbClr val="B8E0FF"/>
            </a:solidFill>
            <a:prstDash val="solid"/>
          </a:ln>
        </p:spPr>
      </p:sp>
      <p:sp>
        <p:nvSpPr>
          <p:cNvPr id="18" name="rank-detail-3">
            <a:extLst xmlns:a="http://schemas.openxmlformats.org/drawingml/2006/main">
              <a:ext uri="{FF2B5EF4-FFF2-40B4-BE49-F238E27FC236}">
                <a16:creationId xmlns:a16="http://schemas.microsoft.com/office/drawing/2014/main" id="{93A6A0F0-6372-4884-A111-88A73D83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52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短期的な関心</a:t>
            </a:r>
          </a:p>
        </p:txBody>
      </p:sp>
      <p:sp>
        <p:nvSpPr>
          <p:cNvPr id="19" name="rank-label-4">
            <a:extLst xmlns:a="http://schemas.openxmlformats.org/drawingml/2006/main">
              <a:ext uri="{FF2B5EF4-FFF2-40B4-BE49-F238E27FC236}">
                <a16:creationId xmlns:a16="http://schemas.microsoft.com/office/drawing/2014/main" id="{2D2992DE-0179-4EDA-BF66-CAA19B6F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レビュー裏付け・商品評価</a:t>
            </a:r>
          </a:p>
        </p:txBody>
      </p:sp>
      <p:sp>
        <p:nvSpPr>
          <p:cNvPr id="20" name="rank-bar-4">
            <a:extLst xmlns:a="http://schemas.openxmlformats.org/drawingml/2006/main">
              <a:ext uri="{FF2B5EF4-FFF2-40B4-BE49-F238E27FC236}">
                <a16:creationId xmlns:a16="http://schemas.microsoft.com/office/drawing/2014/main" id="{A17D2C13-1433-48D3-8BCA-F9EBE2B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38675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</p:sp>
      <p:sp>
        <p:nvSpPr>
          <p:cNvPr id="21" name="rank-detail-4">
            <a:extLst xmlns:a="http://schemas.openxmlformats.org/drawingml/2006/main">
              <a:ext uri="{FF2B5EF4-FFF2-40B4-BE49-F238E27FC236}">
                <a16:creationId xmlns:a16="http://schemas.microsoft.com/office/drawing/2014/main" id="{C942DE63-4CB2-4F98-A6B0-2734D95E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05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信頼性の補強</a:t>
            </a:r>
          </a:p>
        </p:txBody>
      </p:sp>
      <p:sp>
        <p:nvSpPr>
          <p:cNvPr id="22" name="reason-card">
            <a:extLst xmlns:a="http://schemas.openxmlformats.org/drawingml/2006/main">
              <a:ext uri="{FF2B5EF4-FFF2-40B4-BE49-F238E27FC236}">
                <a16:creationId xmlns:a16="http://schemas.microsoft.com/office/drawing/2014/main" id="{27804E24-40DA-4F70-B493-DE3DABC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85975"/>
            <a:ext cx="3905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reason-label">
            <a:extLst xmlns:a="http://schemas.openxmlformats.org/drawingml/2006/main">
              <a:ext uri="{FF2B5EF4-FFF2-40B4-BE49-F238E27FC236}">
                <a16:creationId xmlns:a16="http://schemas.microsoft.com/office/drawing/2014/main" id="{32934EE5-9166-486A-B000-A1D5D5AC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API が返す推薦根拠（例）</a:t>
            </a:r>
          </a:p>
        </p:txBody>
      </p:sp>
      <p:sp>
        <p:nvSpPr>
          <p:cNvPr id="24" name="reason-title">
            <a:extLst xmlns:a="http://schemas.openxmlformats.org/drawingml/2006/main">
              <a:ext uri="{FF2B5EF4-FFF2-40B4-BE49-F238E27FC236}">
                <a16:creationId xmlns:a16="http://schemas.microsoft.com/office/drawing/2014/main" id="{4A2C4769-F9FA-4CAE-9A03-B8DB01C2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最近の好みに近い流れで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次に選ばれやすい候補です</a:t>
            </a:r>
          </a:p>
        </p:txBody>
      </p:sp>
      <p:cxnSp>
        <p:nvCxnSpPr>
          <p:cNvPr id="53" name="reason-rule"/>
          <p:cNvCxnSpPr/>
          <p:nvPr/>
        </p:nvCxnSpPr>
        <p:spPr>
          <a:xfrm xmlns:a="http://schemas.openxmlformats.org/drawingml/2006/main">
            <a:off x="7924800" y="3552825"/>
            <a:ext cx="3381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6" name="reason-metrics">
            <a:extLst xmlns:a="http://schemas.openxmlformats.org/drawingml/2006/main">
              <a:ext uri="{FF2B5EF4-FFF2-40B4-BE49-F238E27FC236}">
                <a16:creationId xmlns:a16="http://schemas.microsoft.com/office/drawing/2014/main" id="{9D9DE333-2C73-4410-9B43-FFBA67AE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transition_peers    35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collaborative_peers 78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shared_attributes    5</a:t>
            </a:r>
          </a:p>
        </p:txBody>
      </p:sp>
      <p:sp>
        <p:nvSpPr>
          <p:cNvPr id="27" name="reason-caption">
            <a:extLst xmlns:a="http://schemas.openxmlformats.org/drawingml/2006/main">
              <a:ext uri="{FF2B5EF4-FFF2-40B4-BE49-F238E27FC236}">
                <a16:creationId xmlns:a16="http://schemas.microsoft.com/office/drawing/2014/main" id="{45768E85-9240-4BEE-8D3A-1955521C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reason_metrics により、UI 側でも</a:t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推薦理由を確認できる。</a:t>
            </a:r>
          </a:p>
        </p:txBody>
      </p:sp>
      <p:sp>
        <p:nvSpPr>
          <p:cNvPr id="28" name="note">
            <a:extLst xmlns:a="http://schemas.openxmlformats.org/drawingml/2006/main">
              <a:ext uri="{FF2B5EF4-FFF2-40B4-BE49-F238E27FC236}">
                <a16:creationId xmlns:a16="http://schemas.microsoft.com/office/drawing/2014/main" id="{DB2921AF-C9C7-4B2C-A190-E1A32DD3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注：棒の長さは説明用の相対表現。実装では log 変換を含む固定の重み付きスコアを使用する。</a:t>
            </a:r>
          </a:p>
        </p:txBody>
      </p:sp>
    </p:spTree>
    <p:extLst>
      <p:ext uri="{BB962C8B-B14F-4D97-AF65-F5344CB8AC3E}">
        <p14:creationId xmlns:p14="http://schemas.microsoft.com/office/powerpoint/2010/main" val="1432624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93703F6C-1A63-4E56-B64B-E9A18A5C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/ OPERATION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1BBD1BB-024D-4900-8092-4836DF7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ホーム推薦は、閲覧のたびに更新され、次回表示を先読みできる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E061DA1D-5C18-4871-99F3-01389306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ユーザ行動を蓄積しながら、応答速度と安全なフォールバックを両立する。</a:t>
            </a:r>
          </a:p>
        </p:txBody>
      </p:sp>
      <p:cxnSp>
        <p:nvCxnSpPr>
          <p:cNvPr id="31" name="rule-5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722CC7D4-2EA7-4DB5-827C-98651D9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05</a:t>
            </a:r>
          </a:p>
        </p:txBody>
      </p:sp>
      <p:sp>
        <p:nvSpPr>
          <p:cNvPr id="6" name="op-a1">
            <a:extLst xmlns:a="http://schemas.openxmlformats.org/drawingml/2006/main">
              <a:ext uri="{FF2B5EF4-FFF2-40B4-BE49-F238E27FC236}">
                <a16:creationId xmlns:a16="http://schemas.microsoft.com/office/drawing/2014/main" id="{338C556D-8D24-425F-A2E2-E01F47C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908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7" name="op-a2">
            <a:extLst xmlns:a="http://schemas.openxmlformats.org/drawingml/2006/main">
              <a:ext uri="{FF2B5EF4-FFF2-40B4-BE49-F238E27FC236}">
                <a16:creationId xmlns:a16="http://schemas.microsoft.com/office/drawing/2014/main" id="{8B529FAE-7C0A-4396-84EC-8C36B2F5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908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8" name="op-a3">
            <a:extLst xmlns:a="http://schemas.openxmlformats.org/drawingml/2006/main">
              <a:ext uri="{FF2B5EF4-FFF2-40B4-BE49-F238E27FC236}">
                <a16:creationId xmlns:a16="http://schemas.microsoft.com/office/drawing/2014/main" id="{C0EB4B2B-5C3A-4344-931F-4E11C79A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9" name="op-0">
            <a:extLst xmlns:a="http://schemas.openxmlformats.org/drawingml/2006/main">
              <a:ext uri="{FF2B5EF4-FFF2-40B4-BE49-F238E27FC236}">
                <a16:creationId xmlns:a16="http://schemas.microsoft.com/office/drawing/2014/main" id="{41B83014-9628-4DDC-8232-71599F7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op-num-0">
            <a:extLst xmlns:a="http://schemas.openxmlformats.org/drawingml/2006/main">
              <a:ext uri="{FF2B5EF4-FFF2-40B4-BE49-F238E27FC236}">
                <a16:creationId xmlns:a16="http://schemas.microsoft.com/office/drawing/2014/main" id="{E6B827A0-FE70-436A-9400-361C59B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op-head-0">
            <a:extLst xmlns:a="http://schemas.openxmlformats.org/drawingml/2006/main">
              <a:ext uri="{FF2B5EF4-FFF2-40B4-BE49-F238E27FC236}">
                <a16:creationId xmlns:a16="http://schemas.microsoft.com/office/drawing/2014/main" id="{DAD95594-0738-4ECF-9BE1-5B1D3989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商品を閲覧</a:t>
            </a:r>
          </a:p>
        </p:txBody>
      </p:sp>
      <p:sp>
        <p:nvSpPr>
          <p:cNvPr id="12" name="op-body-0">
            <a:extLst xmlns:a="http://schemas.openxmlformats.org/drawingml/2006/main">
              <a:ext uri="{FF2B5EF4-FFF2-40B4-BE49-F238E27FC236}">
                <a16:creationId xmlns:a16="http://schemas.microsoft.com/office/drawing/2014/main" id="{7563021D-9004-4969-830A-139BE1C2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VIEWED を記録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SearchLog と紐付け</a:t>
            </a:r>
          </a:p>
        </p:txBody>
      </p:sp>
      <p:sp>
        <p:nvSpPr>
          <p:cNvPr id="13" name="op-1">
            <a:extLst xmlns:a="http://schemas.openxmlformats.org/drawingml/2006/main">
              <a:ext uri="{FF2B5EF4-FFF2-40B4-BE49-F238E27FC236}">
                <a16:creationId xmlns:a16="http://schemas.microsoft.com/office/drawing/2014/main" id="{FC581B2A-2D65-4165-B25A-177FD627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op-num-1">
            <a:extLst xmlns:a="http://schemas.openxmlformats.org/drawingml/2006/main">
              <a:ext uri="{FF2B5EF4-FFF2-40B4-BE49-F238E27FC236}">
                <a16:creationId xmlns:a16="http://schemas.microsoft.com/office/drawing/2014/main" id="{6354CD5A-80B9-4790-B9E6-91E6E971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op-head-1">
            <a:extLst xmlns:a="http://schemas.openxmlformats.org/drawingml/2006/main">
              <a:ext uri="{FF2B5EF4-FFF2-40B4-BE49-F238E27FC236}">
                <a16:creationId xmlns:a16="http://schemas.microsoft.com/office/drawing/2014/main" id="{CBDA0FA9-523E-4513-ADB1-45EB5A3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行動を蓄積</a:t>
            </a:r>
          </a:p>
        </p:txBody>
      </p:sp>
      <p:sp>
        <p:nvSpPr>
          <p:cNvPr id="16" name="op-body-1">
            <a:extLst xmlns:a="http://schemas.openxmlformats.org/drawingml/2006/main">
              <a:ext uri="{FF2B5EF4-FFF2-40B4-BE49-F238E27FC236}">
                <a16:creationId xmlns:a16="http://schemas.microsoft.com/office/drawing/2014/main" id="{B9C034B2-9F14-4C26-B83B-87BAF496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評価・閲覧・属性を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Neo4j から取得</a:t>
            </a:r>
          </a:p>
        </p:txBody>
      </p:sp>
      <p:sp>
        <p:nvSpPr>
          <p:cNvPr id="17" name="op-2">
            <a:extLst xmlns:a="http://schemas.openxmlformats.org/drawingml/2006/main">
              <a:ext uri="{FF2B5EF4-FFF2-40B4-BE49-F238E27FC236}">
                <a16:creationId xmlns:a16="http://schemas.microsoft.com/office/drawing/2014/main" id="{9BBF8563-A529-4989-A69D-D37475C2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op-num-2">
            <a:extLst xmlns:a="http://schemas.openxmlformats.org/drawingml/2006/main">
              <a:ext uri="{FF2B5EF4-FFF2-40B4-BE49-F238E27FC236}">
                <a16:creationId xmlns:a16="http://schemas.microsoft.com/office/drawing/2014/main" id="{29438616-2645-4AF3-B373-D66B5FA6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op-head-2">
            <a:extLst xmlns:a="http://schemas.openxmlformats.org/drawingml/2006/main">
              <a:ext uri="{FF2B5EF4-FFF2-40B4-BE49-F238E27FC236}">
                <a16:creationId xmlns:a16="http://schemas.microsoft.com/office/drawing/2014/main" id="{FE490D88-C1CC-4CDA-AB7F-AB7B3A96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次回を先読み</a:t>
            </a:r>
          </a:p>
        </p:txBody>
      </p:sp>
      <p:sp>
        <p:nvSpPr>
          <p:cNvPr id="20" name="op-body-2">
            <a:extLst xmlns:a="http://schemas.openxmlformats.org/drawingml/2006/main">
              <a:ext uri="{FF2B5EF4-FFF2-40B4-BE49-F238E27FC236}">
                <a16:creationId xmlns:a16="http://schemas.microsoft.com/office/drawing/2014/main" id="{3302DF56-1BC5-458F-8732-0BDEDD4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タブ離脱時に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ホーム推薦をキャッシュ</a:t>
            </a:r>
          </a:p>
        </p:txBody>
      </p:sp>
      <p:sp>
        <p:nvSpPr>
          <p:cNvPr id="21" name="op-3">
            <a:extLst xmlns:a="http://schemas.openxmlformats.org/drawingml/2006/main">
              <a:ext uri="{FF2B5EF4-FFF2-40B4-BE49-F238E27FC236}">
                <a16:creationId xmlns:a16="http://schemas.microsoft.com/office/drawing/2014/main" id="{60D1FDE3-5221-4BEA-89FD-4AA2A8C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22" name="op-num-3">
            <a:extLst xmlns:a="http://schemas.openxmlformats.org/drawingml/2006/main">
              <a:ext uri="{FF2B5EF4-FFF2-40B4-BE49-F238E27FC236}">
                <a16:creationId xmlns:a16="http://schemas.microsoft.com/office/drawing/2014/main" id="{0794AA53-5786-40F8-9687-17A2BA73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op-head-3">
            <a:extLst xmlns:a="http://schemas.openxmlformats.org/drawingml/2006/main">
              <a:ext uri="{FF2B5EF4-FFF2-40B4-BE49-F238E27FC236}">
                <a16:creationId xmlns:a16="http://schemas.microsoft.com/office/drawing/2014/main" id="{DD6FDF7D-54ED-4580-9685-ABB602F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即時に表示</a:t>
            </a:r>
          </a:p>
        </p:txBody>
      </p:sp>
      <p:sp>
        <p:nvSpPr>
          <p:cNvPr id="24" name="op-body-3">
            <a:extLst xmlns:a="http://schemas.openxmlformats.org/drawingml/2006/main">
              <a:ext uri="{FF2B5EF4-FFF2-40B4-BE49-F238E27FC236}">
                <a16:creationId xmlns:a16="http://schemas.microsoft.com/office/drawing/2014/main" id="{35F0AC35-39A9-43AA-ABB8-20899E60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個人化結果、または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人気商品を返却</a:t>
            </a:r>
          </a:p>
        </p:txBody>
      </p:sp>
      <p:sp>
        <p:nvSpPr>
          <p:cNvPr id="25" name="close">
            <a:extLst xmlns:a="http://schemas.openxmlformats.org/drawingml/2006/main">
              <a:ext uri="{FF2B5EF4-FFF2-40B4-BE49-F238E27FC236}">
                <a16:creationId xmlns:a16="http://schemas.microsoft.com/office/drawing/2014/main" id="{A411954B-22EC-46C1-BFAC-0385DD10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A7E5CE"/>
            </a:solidFill>
            <a:prstDash val="solid"/>
          </a:ln>
        </p:spPr>
      </p:sp>
      <p:sp>
        <p:nvSpPr>
          <p:cNvPr id="26" name="close-head">
            <a:extLst xmlns:a="http://schemas.openxmlformats.org/drawingml/2006/main">
              <a:ext uri="{FF2B5EF4-FFF2-40B4-BE49-F238E27FC236}">
                <a16:creationId xmlns:a16="http://schemas.microsoft.com/office/drawing/2014/main" id="{E59DC845-18E1-45B9-8D41-9F9732A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rPr>
              <a:t>設計上の要点</a:t>
            </a:r>
          </a:p>
        </p:txBody>
      </p:sp>
      <p:sp>
        <p:nvSpPr>
          <p:cNvPr id="27" name="close-body">
            <a:extLst xmlns:a="http://schemas.openxmlformats.org/drawingml/2006/main">
              <a:ext uri="{FF2B5EF4-FFF2-40B4-BE49-F238E27FC236}">
                <a16:creationId xmlns:a16="http://schemas.microsoft.com/office/drawing/2014/main" id="{211ED0B1-9939-47E2-A3E4-2490598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881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明示的な検索語がないホームでは、履歴を中心に推薦する。履歴が不足する場合は、無関係な個人化を避けて人気商品へ戻す。</a:t>
            </a:r>
          </a:p>
        </p:txBody>
      </p:sp>
    </p:spTree>
    <p:extLst>
      <p:ext uri="{BB962C8B-B14F-4D97-AF65-F5344CB8AC3E}">
        <p14:creationId xmlns:p14="http://schemas.microsoft.com/office/powerpoint/2010/main" val="1514965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2026-07-14T08:55:41.6980000Z</dcterms:created>
  <dcterms:modified xsi:type="dcterms:W3CDTF">2026-07-14T08:55:41.6980000Z</dcterms:modified>
</coreProperties>
</file>